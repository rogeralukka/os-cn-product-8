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2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88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checker that detects whether a machine log was corrupted or tampered with in transit. The card on the right is the whole idea in one picture: one flipped bit turns a 0 into 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Industrial links are noisy. '8' and '9' differ by one bit, so one bit flip changes 82.4C to 92.4C. We need a cheap way to detect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top lane left to right, then the bottom lane. The receiver never needs the original log: it only needs the received log, the received CRC and the shared divisor.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 examiners like. Key move: R XOR R = 0, so the codeword is an exact multiple of G(x).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and last bits are always 1. That guarantees a real degree-32 polynomial with a constant term, which is what gives the burst-error guarantee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xordiv aloud: whenever the current leading bit is 1, XOR the divisor into the window. When the loop ends, the last 32 bits are the remainder.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limits: the guarantees listed on the CRC card hold for any divisor whose first and last bits are 1. Double-bit and odd-count guarantees are properties of specific polynomials.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steps object is what the frontend uses to fill in the Process Steps panels. Every value on this slide was produced by running the same xordiv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of the final layout. The compact ACCEPT/REJECT chip sits under the received-side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2 flips one bit of one character. Case 3 leaves the log alone and corrupts the CRC. Both leave a non-zero remainder, so both are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78857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CN PROJECT  ·  PRODUCT 8  ·  GROUP VIII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798897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Integrity Checker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99097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corrupted or tampered machine logs with a hand-written CRC-32 built on modulo-2 division.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  ·  Operating Systems &amp; Computer Networks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5212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github.com/rogeralukka/OS-CN-Product-8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371600"/>
            <a:ext cx="4069080" cy="4114800"/>
          </a:xfrm>
          <a:prstGeom prst="roundRect">
            <a:avLst>
              <a:gd name="adj" fmla="val 2247"/>
            </a:avLst>
          </a:prstGeom>
          <a:solidFill>
            <a:srgbClr val="2A333B"/>
          </a:solidFill>
          <a:ln w="12700">
            <a:solidFill>
              <a:srgbClr val="2A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8638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BIT, ONE DIFFERENT READING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'0'   ·   ASCII 48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9892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95944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11996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528048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944100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360152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776204" y="249631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'1'   ·   ASCII 49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79892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695944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11996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28048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944100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360152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3A46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776204" y="3502152"/>
            <a:ext cx="365760" cy="420624"/>
          </a:xfrm>
          <a:prstGeom prst="roundRect">
            <a:avLst>
              <a:gd name="adj" fmla="val 15000"/>
            </a:avLst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RPM:3450</a:t>
            </a:r>
            <a:r>
              <a:rPr lang="en-US" sz="1800" dirty="0">
                <a:solidFill>
                  <a:srgbClr val="B8C2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8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RPM:3451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4663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last bit of one character and the log reports a different value.</a:t>
            </a:r>
            <a:endParaRPr lang="en-US" sz="13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1955E2-1E29-8095-55B3-13313746D572}"/>
              </a:ext>
            </a:extLst>
          </p:cNvPr>
          <p:cNvSpPr txBox="1"/>
          <p:nvPr/>
        </p:nvSpPr>
        <p:spPr>
          <a:xfrm>
            <a:off x="646897" y="3639752"/>
            <a:ext cx="682391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5B00"/>
                </a:solidFill>
                <a:latin typeface="Arial"/>
              </a:defRPr>
            </a:pPr>
            <a:r>
              <a:rPr dirty="0"/>
              <a:t>TEAM RESPONSIBILITY &amp; DEMONSTRATION ROLES: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5B6770"/>
                </a:solidFill>
                <a:latin typeface="Arial"/>
              </a:rPr>
              <a:t>— Project Lead &amp; Architecture: </a:t>
            </a:r>
            <a:r>
              <a:rPr sz="900" b="0" dirty="0">
                <a:solidFill>
                  <a:srgbClr val="5B6770"/>
                </a:solidFill>
                <a:latin typeface="Arial"/>
              </a:rPr>
              <a:t>Problem statement, product overview &amp; dataset management (Slides 1 &amp; 2)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5B6770"/>
                </a:solidFill>
                <a:latin typeface="Arial"/>
              </a:rPr>
              <a:t>— Algorithm Lead: </a:t>
            </a:r>
            <a:r>
              <a:rPr sz="900" b="0" dirty="0">
                <a:solidFill>
                  <a:srgbClr val="5B6770"/>
                </a:solidFill>
                <a:latin typeface="Arial"/>
              </a:rPr>
              <a:t>Galois field GF(2) math, Modulo-2 XOR logic &amp; CRC-32 division (Slides 3 &amp; 4)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5B6770"/>
                </a:solidFill>
                <a:latin typeface="Arial"/>
              </a:rPr>
              <a:t>— Data Ingestion Lead: </a:t>
            </a:r>
            <a:r>
              <a:rPr sz="900" b="0" dirty="0">
                <a:solidFill>
                  <a:srgbClr val="5B6770"/>
                </a:solidFill>
                <a:latin typeface="Arial"/>
              </a:rPr>
              <a:t>ASCII-to-binary mapping, file upload parsing &amp; UI integration (Slides 4 &amp; 5)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5B6770"/>
                </a:solidFill>
                <a:latin typeface="Arial"/>
              </a:rPr>
              <a:t>— Backend &amp; Telemetry Lead: </a:t>
            </a:r>
            <a:r>
              <a:rPr sz="900" b="0" dirty="0">
                <a:solidFill>
                  <a:srgbClr val="5B6770"/>
                </a:solidFill>
                <a:latin typeface="Arial"/>
              </a:rPr>
              <a:t>Flask REST API, session divisor &amp; live step telemetry</a:t>
            </a:r>
            <a:r>
              <a:rPr lang="en-IN" sz="900" b="0" dirty="0">
                <a:solidFill>
                  <a:srgbClr val="5B6770"/>
                </a:solidFill>
                <a:latin typeface="Arial"/>
              </a:rPr>
              <a:t> (Slides 5 &amp; 6)</a:t>
            </a:r>
            <a:endParaRPr sz="900" b="0" dirty="0">
              <a:solidFill>
                <a:srgbClr val="5B6770"/>
              </a:solidFill>
              <a:latin typeface="Arial"/>
            </a:endParaRP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5B6770"/>
                </a:solidFill>
                <a:latin typeface="Arial"/>
              </a:rPr>
              <a:t>— QA &amp; Verification Lead: </a:t>
            </a:r>
            <a:r>
              <a:rPr sz="900" b="0" dirty="0">
                <a:solidFill>
                  <a:srgbClr val="5B6770"/>
                </a:solidFill>
                <a:latin typeface="Arial"/>
              </a:rPr>
              <a:t>Testing matrix (TC-01..TC-05), error simulation &amp; summary</a:t>
            </a:r>
            <a:r>
              <a:rPr lang="en-IN" sz="900" b="0" dirty="0">
                <a:solidFill>
                  <a:srgbClr val="5B6770"/>
                </a:solidFill>
                <a:latin typeface="Arial"/>
              </a:rPr>
              <a:t> (Slides 7 &amp; 8)</a:t>
            </a:r>
            <a:endParaRPr sz="900" b="0" dirty="0">
              <a:solidFill>
                <a:srgbClr val="5B677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flipped bit can change a sensor reading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1955902"/>
            <a:ext cx="294437" cy="2944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764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noise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488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Motors, drives and long cable runs inject interference that flips bits in transit.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2" y="332750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1363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faults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5204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buffer or memory cell silently alters a log that was stored correctly.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2" y="469910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45079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tampering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892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logs can be edited between the machine and the gateway without anyone noticing.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498080" y="1783080"/>
            <a:ext cx="4142232" cy="4251960"/>
          </a:xfrm>
          <a:prstGeom prst="roundRect">
            <a:avLst>
              <a:gd name="adj" fmla="val 2208"/>
            </a:avLst>
          </a:prstGeom>
          <a:solidFill>
            <a:srgbClr val="1F262D"/>
          </a:solidFill>
          <a:ln w="12700">
            <a:solidFill>
              <a:srgbClr val="1F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78181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7818120" y="2395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TEMP:82.4C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78181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818120" y="3127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TEMP:92.4C</a:t>
            </a:r>
            <a:endParaRPr lang="en-US" sz="2600" dirty="0"/>
          </a:p>
        </p:txBody>
      </p:sp>
      <p:sp>
        <p:nvSpPr>
          <p:cNvPr id="23" name="Text 18"/>
          <p:cNvSpPr txBox="1"/>
          <p:nvPr/>
        </p:nvSpPr>
        <p:spPr>
          <a:xfrm>
            <a:off x="7818120" y="3749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one bit of '8' makes it '9'. A normal reading becomes a false shutdown, or a real fault goes unseen.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81812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818120" y="50474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32-bit CRC with every log. The receiver recomputes it and flags any mismatch.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computes a CRC; the receiver re-divides to check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CRC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94560" y="205740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322576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text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 log line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94760" y="267462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96512" y="205740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224528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→ binary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per character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96712" y="267462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98464" y="205740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26480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with 32 zeros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2³²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98664" y="267462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00416" y="205740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028432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G(x)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modulo-2 XOR division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0616" y="267462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802368" y="205740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DEFD2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930384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= remainder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 sent with the log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772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log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94560" y="402336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2322576" y="41148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CRC arrive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M′ and R′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94760" y="464058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096512" y="402336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224528" y="41148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codeword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bits(M′) + R′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96712" y="464058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98464" y="402336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126480" y="41148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same G(x)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session divisor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598664" y="464058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900416" y="402336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8028432" y="41148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= 0?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32 bits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500616" y="4640580"/>
            <a:ext cx="237744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9802368" y="4023360"/>
            <a:ext cx="1536192" cy="566928"/>
          </a:xfrm>
          <a:prstGeom prst="roundRect">
            <a:avLst>
              <a:gd name="adj" fmla="val 9677"/>
            </a:avLst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ACCEPT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= 0…0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802368" y="4690872"/>
            <a:ext cx="1536192" cy="566928"/>
          </a:xfrm>
          <a:prstGeom prst="roundRect">
            <a:avLst>
              <a:gd name="adj" fmla="val 9677"/>
            </a:avLst>
          </a:prstGeom>
          <a:solidFill>
            <a:srgbClr val="B423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REJECT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≠ 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60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use the same 33-bit divisor G(x), fixed for the whole session.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MATH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Modulo-2 arithmetic makes the check exact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rules in GF(2)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411480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⊕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8006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and subtraction are the same operation. No carries, no borrows, so long division reduces to repeated XOR.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12080" y="1783080"/>
            <a:ext cx="6428232" cy="4251960"/>
          </a:xfrm>
          <a:prstGeom prst="roundRect">
            <a:avLst>
              <a:gd name="adj" fmla="val 215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532120" y="2011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receiver expects a zero remainder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DIVIDES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651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M(x)·x³² = Q(x)·G(x) ⊕ R(x)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355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SENT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T(x) = M(x)·x³² ⊕ R(x)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995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T(x) = Q(x)·G(x) ⊕ R(x) ⊕ R(x)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4636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⊕ R = 0, so T(x) = Q(x)·G(x)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5385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525780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DEFD2"/>
          </a:solidFill>
          <a:ln w="12700"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T(x) mod G(x) = 0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DIVISOR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33-bit divisor, fixed for the whole session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G(x): example session divisor, 33 bits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5860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23079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60299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97519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34738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571958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09177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397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83617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20836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58056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95276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32495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69715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06935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4154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81374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18593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5813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93033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0252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67472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04692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641911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79131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16351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53570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990790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328009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665229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002449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1F26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1339668" y="2194560"/>
            <a:ext cx="300644" cy="457200"/>
          </a:xfrm>
          <a:prstGeom prst="roundRect">
            <a:avLst>
              <a:gd name="adj" fmla="val 18249"/>
            </a:avLst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2761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1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0177272" y="2761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1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3200400" y="27614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random bits, chosen once by crcgen()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3611880"/>
            <a:ext cx="3575304" cy="2423160"/>
          </a:xfrm>
          <a:prstGeom prst="roundRect">
            <a:avLst>
              <a:gd name="adj" fmla="val 377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3976268"/>
            <a:ext cx="231343" cy="231343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822960" y="455371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33 bits?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822960" y="4919472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degree-32 polynomial has 33 coefficients. Dividing by it leaves at most 32 bits, and that remainder is the CRC.</a:t>
            </a:r>
            <a:endParaRPr lang="en-US" sz="1450" dirty="0"/>
          </a:p>
        </p:txBody>
      </p:sp>
      <p:sp>
        <p:nvSpPr>
          <p:cNvPr id="48" name="Shape 45"/>
          <p:cNvSpPr/>
          <p:nvPr/>
        </p:nvSpPr>
        <p:spPr>
          <a:xfrm>
            <a:off x="4306824" y="3611880"/>
            <a:ext cx="3575304" cy="2423160"/>
          </a:xfrm>
          <a:prstGeom prst="roundRect">
            <a:avLst>
              <a:gd name="adj" fmla="val 377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4581144" y="384048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32" y="3976268"/>
            <a:ext cx="231343" cy="231343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4581144" y="455371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once</a:t>
            </a:r>
            <a:endParaRPr lang="en-US" sz="1700" dirty="0"/>
          </a:p>
        </p:txBody>
      </p:sp>
      <p:sp>
        <p:nvSpPr>
          <p:cNvPr id="52" name="Text 48"/>
          <p:cNvSpPr txBox="1"/>
          <p:nvPr/>
        </p:nvSpPr>
        <p:spPr>
          <a:xfrm>
            <a:off x="4581144" y="4919472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divisor is created on first use and stored in GENERATOR. Sender and receiver share it for the whole session.</a:t>
            </a:r>
            <a:endParaRPr lang="en-US" sz="1450" dirty="0"/>
          </a:p>
        </p:txBody>
      </p:sp>
      <p:sp>
        <p:nvSpPr>
          <p:cNvPr id="53" name="Shape 49"/>
          <p:cNvSpPr/>
          <p:nvPr/>
        </p:nvSpPr>
        <p:spPr>
          <a:xfrm>
            <a:off x="8065008" y="3611880"/>
            <a:ext cx="3575304" cy="2423160"/>
          </a:xfrm>
          <a:prstGeom prst="roundRect">
            <a:avLst>
              <a:gd name="adj" fmla="val 377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8339328" y="384048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116" y="3976268"/>
            <a:ext cx="231343" cy="231343"/>
          </a:xfrm>
          <a:prstGeom prst="rect">
            <a:avLst/>
          </a:prstGeom>
        </p:spPr>
      </p:pic>
      <p:sp>
        <p:nvSpPr>
          <p:cNvPr id="56" name="Text 51"/>
          <p:cNvSpPr txBox="1"/>
          <p:nvPr/>
        </p:nvSpPr>
        <p:spPr>
          <a:xfrm>
            <a:off x="8339328" y="455371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IEEE polynomial</a:t>
            </a:r>
            <a:endParaRPr lang="en-US" sz="1700" dirty="0"/>
          </a:p>
        </p:txBody>
      </p:sp>
      <p:sp>
        <p:nvSpPr>
          <p:cNvPr id="57" name="Text 52"/>
          <p:cNvSpPr txBox="1"/>
          <p:nvPr/>
        </p:nvSpPr>
        <p:spPr>
          <a:xfrm>
            <a:off x="8339328" y="4919472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spec uses a random divisor. That is fine for a demo; real systems use a standard, well-studied polynomial.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crc_checker.py: the whole algorithm in about 25 lines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760720" cy="1554480"/>
          </a:xfrm>
          <a:prstGeom prst="roundRect">
            <a:avLst>
              <a:gd name="adj" fmla="val 5882"/>
            </a:avLst>
          </a:prstGeom>
          <a:solidFill>
            <a:srgbClr val="1F262D"/>
          </a:solidFill>
          <a:ln w="12700">
            <a:solidFill>
              <a:srgbClr val="1F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ascii2binary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ascii2binary(text):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+=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f"{ord(ch):08b}"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760720" cy="2606040"/>
          </a:xfrm>
          <a:prstGeom prst="roundRect">
            <a:avLst>
              <a:gd name="adj" fmla="val 3509"/>
            </a:avLst>
          </a:prstGeom>
          <a:solidFill>
            <a:srgbClr val="1F262D"/>
          </a:solidFill>
          <a:ln w="12700">
            <a:solidFill>
              <a:srgbClr val="1F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xordiv: modulo-2 long division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862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xordiv(dividend, divisor):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list(dividend)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len(divisor)                </a:t>
            </a:r>
            <a:r>
              <a:rPr lang="en-US" sz="11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33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range(len(d) - m +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d[i] ==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range(m):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d[i+j] =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d[i+j] != divisor[j] else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.join(d[-(m-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):])      </a:t>
            </a:r>
            <a:r>
              <a:rPr lang="en-US" sz="11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 32 bits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48072" cy="2697480"/>
          </a:xfrm>
          <a:prstGeom prst="roundRect">
            <a:avLst>
              <a:gd name="adj" fmla="val 3390"/>
            </a:avLst>
          </a:prstGeom>
          <a:solidFill>
            <a:srgbClr val="1F262D"/>
          </a:solidFill>
          <a:ln w="12700">
            <a:solidFill>
              <a:srgbClr val="1F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720840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compute_crc and verify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945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compute_crc(text):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= ascii2binary(text)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padded = bits +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xordiv(padded, get_divisor())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verify(text, received_crc):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= ascii2binary(text)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codeword = bits + received_crc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remainder = xordiv(codeword, get_divisor())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remainder ==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1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4572000"/>
            <a:ext cx="5148072" cy="146304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720840" y="4709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in the viva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5029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xordiv flips bits in place; no zlib, no libraries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is the last 32 bits after division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and receiver call the same get_divisor()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WHY CRC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CRC-32 beats parity bits and checksums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108960" cy="3749040"/>
          </a:xfrm>
          <a:prstGeom prst="roundRect">
            <a:avLst>
              <a:gd name="adj" fmla="val 294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FDEC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bit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odd number of flipped bits</a:t>
            </a:r>
            <a:endParaRPr lang="en-US" sz="1050" dirty="0"/>
          </a:p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even number: two flips cancel out</a:t>
            </a:r>
            <a:endParaRPr lang="en-US" sz="1050" dirty="0"/>
          </a:p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per byte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0" y="1783080"/>
            <a:ext cx="3108960" cy="3749040"/>
          </a:xfrm>
          <a:prstGeom prst="roundRect">
            <a:avLst>
              <a:gd name="adj" fmla="val 294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114800" y="201168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FDEFD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checksum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9718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random errors</a:t>
            </a:r>
            <a:endParaRPr lang="en-US" sz="1050" dirty="0"/>
          </a:p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changes and reordered bytes</a:t>
            </a:r>
            <a:endParaRPr lang="en-US" sz="1050" dirty="0"/>
          </a:p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to 32 bits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0" y="1783080"/>
            <a:ext cx="4507992" cy="3749040"/>
          </a:xfrm>
          <a:prstGeom prst="roundRect">
            <a:avLst>
              <a:gd name="adj" fmla="val 2439"/>
            </a:avLst>
          </a:prstGeom>
          <a:solidFill>
            <a:srgbClr val="1F262D"/>
          </a:solidFill>
          <a:ln w="12700">
            <a:solidFill>
              <a:srgbClr val="1F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406640" y="201168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CRC-32 (this project)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880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4.3 billion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520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that a long random error goes unnoticed (1 / 2³²)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4005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CATCHES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4251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single-bit error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burst up to 32 bits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8920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 per message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Bursts of exactly 33 bits slip through with probability 2⁻³¹, longer ones with 2⁻³². Extra guarantees, such as every double-bit or every odd-count error, depend on the polynomial chosen, and a random divisor does not provide them.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BACKEND API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JSON endpoints drive the whole UI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1F262D"/>
          </a:solidFill>
          <a:ln w="12700">
            <a:solidFill>
              <a:srgbClr val="1F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594360" cy="274320"/>
          </a:xfrm>
          <a:prstGeom prst="roundRect">
            <a:avLst>
              <a:gd name="adj" fmla="val 20000"/>
            </a:avLst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476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/api/compute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"TURBINE_01 RPM:3450"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"crc":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"00110110011110110100011100100100"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"divisor":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"100001010100110001101111101000111"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"steps":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"binary":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"0101010001010101..."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"padded":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"...00000000000000000000000000000000"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"remainder":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"00110110011110110100011100100100"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"hex":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"367B4724"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1F262D"/>
          </a:solidFill>
          <a:ln w="12700">
            <a:solidFill>
              <a:srgbClr val="1F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73952" y="1965960"/>
            <a:ext cx="594360" cy="274320"/>
          </a:xfrm>
          <a:prstGeom prst="roundRect">
            <a:avLst>
              <a:gd name="adj" fmla="val 20000"/>
            </a:avLst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9476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/api/verify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46888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"TURBINE_01 RPM:3450"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"crc":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"00110110011110110100011100100100"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"accepted":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"divisor":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"100001010100110001101111101000111"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"steps":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"codeword":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"...00110110011110110100011100100100"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"remainder":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"00000000000000000000000000000000"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/api/divisor</a:t>
            </a: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returns the session divisor, so the UI can show it in STEP 4.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One-screen dashboard: inputs on top, workings below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86600" y="178308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3" y="1931213"/>
            <a:ext cx="252374" cy="252374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7863840" y="1764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Two-row layout</a:t>
            </a:r>
            <a:endParaRPr lang="en-US" sz="1650" dirty="0"/>
          </a:p>
        </p:txBody>
      </p:sp>
      <p:sp>
        <p:nvSpPr>
          <p:cNvPr id="42" name="Text 39"/>
          <p:cNvSpPr txBox="1"/>
          <p:nvPr/>
        </p:nvSpPr>
        <p:spPr>
          <a:xfrm>
            <a:off x="7863840" y="211226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on top, live process steps below. Fits one screen with no page scroll.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7086600" y="288036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733" y="3028493"/>
            <a:ext cx="252374" cy="252374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7863840" y="2862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visible</a:t>
            </a:r>
            <a:endParaRPr lang="en-US" sz="1650" dirty="0"/>
          </a:p>
        </p:txBody>
      </p:sp>
      <p:sp>
        <p:nvSpPr>
          <p:cNvPr id="46" name="Text 42"/>
          <p:cNvSpPr txBox="1"/>
          <p:nvPr/>
        </p:nvSpPr>
        <p:spPr>
          <a:xfrm>
            <a:off x="7863840" y="32095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to binary, padding, divisor, remainder and hex, shown as they happen.</a:t>
            </a:r>
            <a:endParaRPr lang="en-US" sz="1350" dirty="0"/>
          </a:p>
        </p:txBody>
      </p:sp>
      <p:sp>
        <p:nvSpPr>
          <p:cNvPr id="47" name="Shape 43"/>
          <p:cNvSpPr/>
          <p:nvPr/>
        </p:nvSpPr>
        <p:spPr>
          <a:xfrm>
            <a:off x="7086600" y="397764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733" y="4125773"/>
            <a:ext cx="252374" cy="252374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7863840" y="3959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random logs</a:t>
            </a:r>
            <a:endParaRPr lang="en-US" sz="1650" dirty="0"/>
          </a:p>
        </p:txBody>
      </p:sp>
      <p:sp>
        <p:nvSpPr>
          <p:cNvPr id="50" name="Text 45"/>
          <p:cNvSpPr txBox="1"/>
          <p:nvPr/>
        </p:nvSpPr>
        <p:spPr>
          <a:xfrm>
            <a:off x="7863840" y="43068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.txt, .log or .md with FileReader, or generate a random machine log.</a:t>
            </a:r>
            <a:endParaRPr lang="en-US" sz="1350" dirty="0"/>
          </a:p>
        </p:txBody>
      </p:sp>
      <p:sp>
        <p:nvSpPr>
          <p:cNvPr id="51" name="Shape 46"/>
          <p:cNvSpPr/>
          <p:nvPr/>
        </p:nvSpPr>
        <p:spPr>
          <a:xfrm>
            <a:off x="7086600" y="507492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733" y="5223053"/>
            <a:ext cx="252374" cy="252374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7863840" y="5056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 theme</a:t>
            </a:r>
            <a:endParaRPr lang="en-US" sz="1650" dirty="0"/>
          </a:p>
        </p:txBody>
      </p:sp>
      <p:sp>
        <p:nvSpPr>
          <p:cNvPr id="54" name="Text 48"/>
          <p:cNvSpPr txBox="1"/>
          <p:nvPr/>
        </p:nvSpPr>
        <p:spPr>
          <a:xfrm>
            <a:off x="7863840" y="54041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and one toggle; the choice is saved in localStorage.</a:t>
            </a:r>
            <a:endParaRPr lang="en-US" sz="13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6A4CC4C-99C1-2156-6972-072313389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964" y="1931213"/>
            <a:ext cx="6626503" cy="36537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intact, mutated, and forged-checksum logs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Log Integrity Checker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7F6EC"/>
          </a:solidFill>
          <a:ln w="12700">
            <a:solidFill>
              <a:srgbClr val="A7D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log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changed in transit.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54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LOG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74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TURBINE_01 RPM:3450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76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RECEIVED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959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00110110 01111011 01000111 00100100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982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00000000 00000000 00000000 00000000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29200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ACCEPT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11396" y="17830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DECEA"/>
          </a:solidFill>
          <a:ln w="12700">
            <a:solidFill>
              <a:srgbClr val="F1B5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539996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39996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One-bit mutation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39996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character flipped: '0' → '1' (a single bit).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39996" y="3154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LOG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39996" y="3374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TURBINE_01 RPM:345</a:t>
            </a:r>
            <a:r>
              <a:rPr lang="en-US" sz="11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39996" y="3776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RECEIVED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39996" y="39959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00110110 01111011 01000111 00100100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39996" y="43982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39996" y="4617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00001010 10011000 11011111 01000111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39996" y="5029200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B423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REJECT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74152" y="17830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DECEA"/>
          </a:solidFill>
          <a:ln w="12700">
            <a:solidFill>
              <a:srgbClr val="F1B5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8302752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checksum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is intact; 8 bits of the CRC were flipped.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3154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LOG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3374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TURBINE_01 RPM:3450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3776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RECEIVED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302752" y="39959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11001001</a:t>
            </a: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01111011 01000111 00100100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302752" y="43982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302752" y="4617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11111111 00000000 00000000 00000000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302752" y="5029200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B423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REJECT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produced with the same ascii2binary and xordiv code, using the example divisor from slide 5.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1944</Words>
  <Application>Microsoft Office PowerPoint</Application>
  <PresentationFormat>Widescreen</PresentationFormat>
  <Paragraphs>329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Machine Log Integrity Checker</dc:title>
  <dc:subject>PptxGenJS Presentation</dc:subject>
  <dc:creator>PptxGenJS</dc:creator>
  <cp:lastModifiedBy>MayDie Later</cp:lastModifiedBy>
  <cp:revision>8</cp:revision>
  <dcterms:created xsi:type="dcterms:W3CDTF">2026-09-21T04:18:19Z</dcterms:created>
  <dcterms:modified xsi:type="dcterms:W3CDTF">2026-09-21T05:19:19Z</dcterms:modified>
</cp:coreProperties>
</file>