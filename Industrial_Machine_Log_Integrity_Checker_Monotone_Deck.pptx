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8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00584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6E5D4E"/>
                </a:solidFill>
                <a:latin typeface="Arial"/>
              </a:defRPr>
            </a:pPr>
            <a:r>
              <a:t>SRU CSE • PRODUCT 8 • COMPUTER NETWORKS &amp; 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371600"/>
            <a:ext cx="1033272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4200" b="1">
                <a:solidFill>
                  <a:srgbClr val="241E17"/>
                </a:solidFill>
                <a:latin typeface="Arial"/>
              </a:defRPr>
            </a:pPr>
            <a:r>
              <a:t>Industrial Machine Log</a:t>
            </a:r>
            <a:br/>
            <a:r>
              <a:t>Integrity Checker</a:t>
            </a:r>
          </a:p>
          <a:p>
            <a:pPr>
              <a:defRPr sz="1700">
                <a:solidFill>
                  <a:srgbClr val="6E5D4E"/>
                </a:solidFill>
                <a:latin typeface="Arial"/>
              </a:defRPr>
            </a:pPr>
            <a:r>
              <a:t>Deterministic Modulo-2 Polynomial Division Engine with Session-Fixed 33-Bit Divisor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4114800"/>
            <a:ext cx="2468880" cy="21031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D5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78992" y="4279392"/>
            <a:ext cx="2139696" cy="17739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900" b="1">
                <a:solidFill>
                  <a:srgbClr val="6E5D4E"/>
                </a:solidFill>
                <a:latin typeface="Arial"/>
              </a:defRPr>
            </a:pPr>
            <a:r>
              <a:t>MATHEMATICS</a:t>
            </a:r>
          </a:p>
          <a:p>
            <a:pPr>
              <a:spcAft>
                <a:spcPts val="600"/>
              </a:spcAft>
              <a:defRPr sz="1400" b="1">
                <a:solidFill>
                  <a:srgbClr val="241E17"/>
                </a:solidFill>
                <a:latin typeface="Arial"/>
              </a:defRPr>
            </a:pPr>
            <a:r>
              <a:t>GF(2) Arithmetic</a:t>
            </a:r>
          </a:p>
          <a:p>
            <a:pPr>
              <a:spcAft>
                <a:spcPts val="400"/>
              </a:spcAft>
              <a:defRPr sz="1100">
                <a:solidFill>
                  <a:srgbClr val="6E5D4E"/>
                </a:solidFill>
                <a:latin typeface="Arial"/>
              </a:defRPr>
            </a:pPr>
            <a:r>
              <a:t>Handwritten bitwise XOR polynomial long division with zero carries/borrows.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520440" y="4114800"/>
            <a:ext cx="2468880" cy="21031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D5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85032" y="4279392"/>
            <a:ext cx="2139696" cy="17739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900" b="1">
                <a:solidFill>
                  <a:srgbClr val="6E5D4E"/>
                </a:solidFill>
                <a:latin typeface="Arial"/>
              </a:defRPr>
            </a:pPr>
            <a:r>
              <a:t>ARCHITECTURE</a:t>
            </a:r>
          </a:p>
          <a:p>
            <a:pPr>
              <a:spcAft>
                <a:spcPts val="600"/>
              </a:spcAft>
              <a:defRPr sz="1400" b="1">
                <a:solidFill>
                  <a:srgbClr val="241E17"/>
                </a:solidFill>
                <a:latin typeface="Arial"/>
              </a:defRPr>
            </a:pPr>
            <a:r>
              <a:t>Session Invariant</a:t>
            </a:r>
          </a:p>
          <a:p>
            <a:pPr>
              <a:spcAft>
                <a:spcPts val="400"/>
              </a:spcAft>
              <a:defRPr sz="1100">
                <a:solidFill>
                  <a:srgbClr val="6E5D4E"/>
                </a:solidFill>
                <a:latin typeface="Arial"/>
              </a:defRPr>
            </a:pPr>
            <a:r>
              <a:t>Random 33-bit polynomial locked once at startup across compute &amp; verify.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26480" y="4114800"/>
            <a:ext cx="2468880" cy="21031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D5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91072" y="4279392"/>
            <a:ext cx="2139696" cy="17739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900" b="1">
                <a:solidFill>
                  <a:srgbClr val="6E5D4E"/>
                </a:solidFill>
                <a:latin typeface="Arial"/>
              </a:defRPr>
            </a:pPr>
            <a:r>
              <a:t>ENGINEERING</a:t>
            </a:r>
          </a:p>
          <a:p>
            <a:pPr>
              <a:spcAft>
                <a:spcPts val="600"/>
              </a:spcAft>
              <a:defRPr sz="1400" b="1">
                <a:solidFill>
                  <a:srgbClr val="241E17"/>
                </a:solidFill>
                <a:latin typeface="Arial"/>
              </a:defRPr>
            </a:pPr>
            <a:r>
              <a:t>Zero Black-Box</a:t>
            </a:r>
          </a:p>
          <a:p>
            <a:pPr>
              <a:spcAft>
                <a:spcPts val="400"/>
              </a:spcAft>
              <a:defRPr sz="1100">
                <a:solidFill>
                  <a:srgbClr val="6E5D4E"/>
                </a:solidFill>
                <a:latin typeface="Arial"/>
              </a:defRPr>
            </a:pPr>
            <a:r>
              <a:t>100% inspectable bitstream math without opaque libraries (no zlib).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732520" y="4114800"/>
            <a:ext cx="2468880" cy="21031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D5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897112" y="4279392"/>
            <a:ext cx="2139696" cy="17739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900" b="1">
                <a:solidFill>
                  <a:srgbClr val="6E5D4E"/>
                </a:solidFill>
                <a:latin typeface="Arial"/>
              </a:defRPr>
            </a:pPr>
            <a:r>
              <a:t>INTERFACE</a:t>
            </a:r>
          </a:p>
          <a:p>
            <a:pPr>
              <a:spcAft>
                <a:spcPts val="600"/>
              </a:spcAft>
              <a:defRPr sz="1400" b="1">
                <a:solidFill>
                  <a:srgbClr val="241E17"/>
                </a:solidFill>
                <a:latin typeface="Arial"/>
              </a:defRPr>
            </a:pPr>
            <a:r>
              <a:t>Warm Monotone UI</a:t>
            </a:r>
          </a:p>
          <a:p>
            <a:pPr>
              <a:spcAft>
                <a:spcPts val="400"/>
              </a:spcAft>
              <a:defRPr sz="1100">
                <a:solidFill>
                  <a:srgbClr val="6E5D4E"/>
                </a:solidFill>
                <a:latin typeface="Arial"/>
              </a:defRPr>
            </a:pPr>
            <a:r>
              <a:t>2-row single-viewport dashboard with custom 6px subtle scrollbars.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8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8229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6E5D4E"/>
                </a:solidFill>
                <a:latin typeface="Arial"/>
              </a:defRPr>
            </a:pPr>
            <a:r>
              <a:t>PROBLEM DEFINITION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94360"/>
            <a:ext cx="8686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241E17"/>
                </a:solidFill>
                <a:latin typeface="Arial"/>
              </a:defRPr>
            </a:pPr>
            <a:r>
              <a:t>Industrial Telemetry Corruption &amp; Noise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241280" y="411480"/>
            <a:ext cx="1188720" cy="365760"/>
          </a:xfrm>
          <a:prstGeom prst="roundRect">
            <a:avLst/>
          </a:prstGeom>
          <a:solidFill>
            <a:srgbClr val="FFFFFF"/>
          </a:solidFill>
          <a:ln>
            <a:solidFill>
              <a:srgbClr val="E2D5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241280" y="411480"/>
            <a:ext cx="1188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6E5D4E"/>
                </a:solidFill>
                <a:latin typeface="Arial"/>
              </a:defRPr>
            </a:pPr>
            <a:r>
              <a:t>SLIDE 02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371600"/>
            <a:ext cx="5120640" cy="47548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D5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96112" y="1536192"/>
            <a:ext cx="4791456" cy="44256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900" b="1">
                <a:solidFill>
                  <a:srgbClr val="6E5D4E"/>
                </a:solidFill>
                <a:latin typeface="Arial"/>
              </a:defRPr>
            </a:pPr>
            <a:r>
              <a:t>THREAT MODEL</a:t>
            </a:r>
          </a:p>
          <a:p>
            <a:pPr>
              <a:spcAft>
                <a:spcPts val="600"/>
              </a:spcAft>
              <a:defRPr sz="1400" b="1">
                <a:solidFill>
                  <a:srgbClr val="241E17"/>
                </a:solidFill>
                <a:latin typeface="Arial"/>
              </a:defRPr>
            </a:pPr>
            <a:r>
              <a:t>The Vulnerability Landscape</a:t>
            </a:r>
          </a:p>
          <a:p>
            <a:pPr>
              <a:spcAft>
                <a:spcPts val="400"/>
              </a:spcAft>
              <a:defRPr sz="1100">
                <a:solidFill>
                  <a:srgbClr val="6E5D4E"/>
                </a:solidFill>
                <a:latin typeface="Arial"/>
              </a:defRPr>
            </a:pPr>
            <a:r>
              <a:t>• Electromagnetic Interference (EMI): High-voltage industrial inverters create power spikes flipping transient bits in serial buses.</a:t>
            </a:r>
          </a:p>
          <a:p>
            <a:pPr>
              <a:spcAft>
                <a:spcPts val="400"/>
              </a:spcAft>
              <a:defRPr sz="1100">
                <a:solidFill>
                  <a:srgbClr val="6E5D4E"/>
                </a:solidFill>
                <a:latin typeface="Arial"/>
              </a:defRPr>
            </a:pPr>
            <a:r>
              <a:t>• Flash Wear Bit Rot: Distributed edge PLC gateways suffer memory decay corrupting sensor calibration records.</a:t>
            </a:r>
          </a:p>
          <a:p>
            <a:pPr>
              <a:spcAft>
                <a:spcPts val="400"/>
              </a:spcAft>
              <a:defRPr sz="1100">
                <a:solidFill>
                  <a:srgbClr val="6E5D4E"/>
                </a:solidFill>
                <a:latin typeface="Arial"/>
              </a:defRPr>
            </a:pPr>
            <a:r>
              <a:t>• Silent Packet Corruption: Data altering machine limits causes physical hardware failure if left undetected.</a:t>
            </a:r>
          </a:p>
          <a:p>
            <a:pPr>
              <a:spcAft>
                <a:spcPts val="400"/>
              </a:spcAft>
              <a:defRPr sz="1100">
                <a:solidFill>
                  <a:srgbClr val="6E5D4E"/>
                </a:solidFill>
                <a:latin typeface="Arial"/>
              </a:defRPr>
            </a:pPr>
            <a:r>
              <a:t>• Man-in-the-Middle Injection: Malicious actors altering telemetry packets without cryptographic or CRC detection.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371600"/>
            <a:ext cx="5212080" cy="4754880"/>
          </a:xfrm>
          <a:prstGeom prst="roundRect">
            <a:avLst/>
          </a:prstGeom>
          <a:solidFill>
            <a:srgbClr val="EFE5D5"/>
          </a:solidFill>
          <a:ln w="15240">
            <a:solidFill>
              <a:srgbClr val="E3C0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82512" y="1536192"/>
            <a:ext cx="4882896" cy="44256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900" b="1">
                <a:solidFill>
                  <a:srgbClr val="6E5D4E"/>
                </a:solidFill>
                <a:latin typeface="Arial"/>
              </a:defRPr>
            </a:pPr>
            <a:r>
              <a:t>THEORETICAL ADVANTAGE</a:t>
            </a:r>
          </a:p>
          <a:p>
            <a:pPr>
              <a:spcAft>
                <a:spcPts val="600"/>
              </a:spcAft>
              <a:defRPr sz="1400" b="1">
                <a:solidFill>
                  <a:srgbClr val="241E17"/>
                </a:solidFill>
                <a:latin typeface="Arial"/>
              </a:defRPr>
            </a:pPr>
            <a:r>
              <a:t>Why CRC-32 Over Checksums?</a:t>
            </a:r>
          </a:p>
          <a:p>
            <a:pPr>
              <a:spcAft>
                <a:spcPts val="400"/>
              </a:spcAft>
              <a:defRPr sz="1100">
                <a:solidFill>
                  <a:srgbClr val="6E5D4E"/>
                </a:solidFill>
                <a:latin typeface="Arial"/>
              </a:defRPr>
            </a:pPr>
            <a:r>
              <a:t>• Failure of Additive Sums: Simple 16-bit/32-bit checksums fail to detect bit swaps and burst noise (0x01+0x02 == 0x02+0x01).</a:t>
            </a:r>
          </a:p>
          <a:p>
            <a:pPr>
              <a:spcAft>
                <a:spcPts val="400"/>
              </a:spcAft>
              <a:defRPr sz="1100">
                <a:solidFill>
                  <a:srgbClr val="6E5D4E"/>
                </a:solidFill>
                <a:latin typeface="Arial"/>
              </a:defRPr>
            </a:pPr>
            <a:r>
              <a:t>• Polynomial Rigor: Treats bitstream as coefficients of polynomial M(x) divided by generator G(x) over GF(2).</a:t>
            </a:r>
          </a:p>
          <a:p>
            <a:pPr>
              <a:spcAft>
                <a:spcPts val="400"/>
              </a:spcAft>
              <a:defRPr sz="1100">
                <a:solidFill>
                  <a:srgbClr val="6E5D4E"/>
                </a:solidFill>
                <a:latin typeface="Arial"/>
              </a:defRPr>
            </a:pPr>
            <a:r>
              <a:t>• Burst Error Guarantee: 100% detection of all single-bit, double-bit, and burst errors up to 32 contiguous bits.</a:t>
            </a:r>
          </a:p>
          <a:p>
            <a:pPr>
              <a:spcAft>
                <a:spcPts val="400"/>
              </a:spcAft>
              <a:defRPr sz="1100">
                <a:solidFill>
                  <a:srgbClr val="6E5D4E"/>
                </a:solidFill>
                <a:latin typeface="Arial"/>
              </a:defRPr>
            </a:pPr>
            <a:r>
              <a:t>• Mathematical Proof: Undetected burst probability is less than 1 in 4.29 billion (2^-32).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8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8229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6E5D4E"/>
                </a:solidFill>
                <a:latin typeface="Arial"/>
              </a:defRPr>
            </a:pPr>
            <a:r>
              <a:t>MATHEMATICAL FOUNDATION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94360"/>
            <a:ext cx="8686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241E17"/>
                </a:solidFill>
                <a:latin typeface="Arial"/>
              </a:defRPr>
            </a:pPr>
            <a:r>
              <a:t>Galois Field GF(2) Polynomial Arithmetic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241280" y="411480"/>
            <a:ext cx="1188720" cy="365760"/>
          </a:xfrm>
          <a:prstGeom prst="roundRect">
            <a:avLst/>
          </a:prstGeom>
          <a:solidFill>
            <a:srgbClr val="FFFFFF"/>
          </a:solidFill>
          <a:ln>
            <a:solidFill>
              <a:srgbClr val="E2D5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241280" y="411480"/>
            <a:ext cx="1188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6E5D4E"/>
                </a:solidFill>
                <a:latin typeface="Arial"/>
              </a:defRPr>
            </a:pPr>
            <a:r>
              <a:t>SLIDE 03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371600"/>
            <a:ext cx="3474720" cy="47548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D5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96112" y="1536192"/>
            <a:ext cx="3145536" cy="44256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900" b="1">
                <a:solidFill>
                  <a:srgbClr val="6E5D4E"/>
                </a:solidFill>
                <a:latin typeface="Arial"/>
              </a:defRPr>
            </a:pPr>
            <a:r>
              <a:t>REPRESENTATION</a:t>
            </a:r>
          </a:p>
          <a:p>
            <a:pPr>
              <a:spcAft>
                <a:spcPts val="600"/>
              </a:spcAft>
              <a:defRPr sz="1400" b="1">
                <a:solidFill>
                  <a:srgbClr val="241E17"/>
                </a:solidFill>
                <a:latin typeface="Arial"/>
              </a:defRPr>
            </a:pPr>
            <a:r>
              <a:t>Polynomial Mapping</a:t>
            </a:r>
          </a:p>
          <a:p>
            <a:pPr>
              <a:spcAft>
                <a:spcPts val="400"/>
              </a:spcAft>
              <a:defRPr sz="1100">
                <a:solidFill>
                  <a:srgbClr val="6E5D4E"/>
                </a:solidFill>
                <a:latin typeface="Arial"/>
              </a:defRPr>
            </a:pPr>
            <a:r>
              <a:t>• Message converted to 8-bit ASCII binary stream.</a:t>
            </a:r>
          </a:p>
          <a:p>
            <a:pPr>
              <a:spcAft>
                <a:spcPts val="400"/>
              </a:spcAft>
              <a:defRPr sz="1100">
                <a:solidFill>
                  <a:srgbClr val="6E5D4E"/>
                </a:solidFill>
                <a:latin typeface="Arial"/>
              </a:defRPr>
            </a:pPr>
            <a:r>
              <a:t>• 'A' = 01000001 -&gt; P(x) = x^6 + 1.</a:t>
            </a:r>
          </a:p>
          <a:p>
            <a:pPr>
              <a:spcAft>
                <a:spcPts val="400"/>
              </a:spcAft>
              <a:defRPr sz="1100">
                <a:solidFill>
                  <a:srgbClr val="6E5D4E"/>
                </a:solidFill>
                <a:latin typeface="Arial"/>
              </a:defRPr>
            </a:pPr>
            <a:r>
              <a:t>• Addition &amp; subtraction in GF(2) are identical to bitwise XOR (no carries/borrows).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43400" y="1371600"/>
            <a:ext cx="3474720" cy="47548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D5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07992" y="1536192"/>
            <a:ext cx="3145536" cy="44256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900" b="1">
                <a:solidFill>
                  <a:srgbClr val="6E5D4E"/>
                </a:solidFill>
                <a:latin typeface="Arial"/>
              </a:defRPr>
            </a:pPr>
            <a:r>
              <a:t>DIVISION LOGIC</a:t>
            </a:r>
          </a:p>
          <a:p>
            <a:pPr>
              <a:spcAft>
                <a:spcPts val="600"/>
              </a:spcAft>
              <a:defRPr sz="1400" b="1">
                <a:solidFill>
                  <a:srgbClr val="241E17"/>
                </a:solidFill>
                <a:latin typeface="Arial"/>
              </a:defRPr>
            </a:pPr>
            <a:r>
              <a:t>Modulo-2 Division</a:t>
            </a:r>
          </a:p>
          <a:p>
            <a:pPr>
              <a:spcAft>
                <a:spcPts val="400"/>
              </a:spcAft>
              <a:defRPr sz="1100">
                <a:solidFill>
                  <a:srgbClr val="6E5D4E"/>
                </a:solidFill>
                <a:latin typeface="Arial"/>
              </a:defRPr>
            </a:pPr>
            <a:r>
              <a:t>• Dividend divided by 33-bit divisor.</a:t>
            </a:r>
          </a:p>
          <a:p>
            <a:pPr>
              <a:spcAft>
                <a:spcPts val="400"/>
              </a:spcAft>
              <a:defRPr sz="1100">
                <a:solidFill>
                  <a:srgbClr val="6E5D4E"/>
                </a:solidFill>
                <a:latin typeface="Arial"/>
              </a:defRPr>
            </a:pPr>
            <a:r>
              <a:t>• If leading bit is 1, XOR with divisor.</a:t>
            </a:r>
          </a:p>
          <a:p>
            <a:pPr>
              <a:spcAft>
                <a:spcPts val="400"/>
              </a:spcAft>
              <a:defRPr sz="1100">
                <a:solidFill>
                  <a:srgbClr val="6E5D4E"/>
                </a:solidFill>
                <a:latin typeface="Arial"/>
              </a:defRPr>
            </a:pPr>
            <a:r>
              <a:t>• If leading bit is 0, shift 1 bit right.</a:t>
            </a:r>
          </a:p>
          <a:p>
            <a:pPr>
              <a:spcAft>
                <a:spcPts val="400"/>
              </a:spcAft>
              <a:defRPr sz="1100">
                <a:solidFill>
                  <a:srgbClr val="6E5D4E"/>
                </a:solidFill>
                <a:latin typeface="Arial"/>
              </a:defRPr>
            </a:pPr>
            <a:r>
              <a:t>• Linear time O(N) complexity across N bits.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955280" y="1371600"/>
            <a:ext cx="3474720" cy="47548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D5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119872" y="1536192"/>
            <a:ext cx="3145536" cy="44256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900" b="1">
                <a:solidFill>
                  <a:srgbClr val="6E5D4E"/>
                </a:solidFill>
                <a:latin typeface="Arial"/>
              </a:defRPr>
            </a:pPr>
            <a:r>
              <a:t>VERIFICATION PROOF</a:t>
            </a:r>
          </a:p>
          <a:p>
            <a:pPr>
              <a:spcAft>
                <a:spcPts val="600"/>
              </a:spcAft>
              <a:defRPr sz="1400" b="1">
                <a:solidFill>
                  <a:srgbClr val="241E17"/>
                </a:solidFill>
                <a:latin typeface="Arial"/>
              </a:defRPr>
            </a:pPr>
            <a:r>
              <a:t>Syndrome Invariant</a:t>
            </a:r>
          </a:p>
          <a:p>
            <a:pPr>
              <a:spcAft>
                <a:spcPts val="400"/>
              </a:spcAft>
              <a:defRPr sz="1100">
                <a:solidFill>
                  <a:srgbClr val="6E5D4E"/>
                </a:solidFill>
                <a:latin typeface="Arial"/>
              </a:defRPr>
            </a:pPr>
            <a:r>
              <a:t>• M(x)*x^32 = Q(x)G(x) XOR R(x).</a:t>
            </a:r>
          </a:p>
          <a:p>
            <a:pPr>
              <a:spcAft>
                <a:spcPts val="400"/>
              </a:spcAft>
              <a:defRPr sz="1100">
                <a:solidFill>
                  <a:srgbClr val="6E5D4E"/>
                </a:solidFill>
                <a:latin typeface="Arial"/>
              </a:defRPr>
            </a:pPr>
            <a:r>
              <a:t>• Codeword T(x) = M(x)*x^32 XOR R(x).</a:t>
            </a:r>
          </a:p>
          <a:p>
            <a:pPr>
              <a:spcAft>
                <a:spcPts val="400"/>
              </a:spcAft>
              <a:defRPr sz="1100">
                <a:solidFill>
                  <a:srgbClr val="6E5D4E"/>
                </a:solidFill>
                <a:latin typeface="Arial"/>
              </a:defRPr>
            </a:pPr>
            <a:r>
              <a:t>• Dividing valid T(x) by G(x) strictly produces a remainder of 32 zeros.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8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8229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6E5D4E"/>
                </a:solidFill>
                <a:latin typeface="Arial"/>
              </a:defRPr>
            </a:pPr>
            <a:r>
              <a:t>SYSTEM INVARIANT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94360"/>
            <a:ext cx="8686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241E17"/>
                </a:solidFill>
                <a:latin typeface="Arial"/>
              </a:defRPr>
            </a:pPr>
            <a:r>
              <a:t>Session-Fixed 33-Bit Divisor Architecture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241280" y="411480"/>
            <a:ext cx="1188720" cy="365760"/>
          </a:xfrm>
          <a:prstGeom prst="roundRect">
            <a:avLst/>
          </a:prstGeom>
          <a:solidFill>
            <a:srgbClr val="FFFFFF"/>
          </a:solidFill>
          <a:ln>
            <a:solidFill>
              <a:srgbClr val="E2D5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241280" y="411480"/>
            <a:ext cx="1188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6E5D4E"/>
                </a:solidFill>
                <a:latin typeface="Arial"/>
              </a:defRPr>
            </a:pPr>
            <a:r>
              <a:t>SLIDE 04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371600"/>
            <a:ext cx="6217920" cy="47548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D5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96112" y="1536192"/>
            <a:ext cx="5888736" cy="44256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900" b="1">
                <a:solidFill>
                  <a:srgbClr val="6E5D4E"/>
                </a:solidFill>
                <a:latin typeface="Arial"/>
              </a:defRPr>
            </a:pPr>
            <a:r>
              <a:t>ALGORITHM DESIGN</a:t>
            </a:r>
          </a:p>
          <a:p>
            <a:pPr>
              <a:spcAft>
                <a:spcPts val="600"/>
              </a:spcAft>
              <a:defRPr sz="1400" b="1">
                <a:solidFill>
                  <a:srgbClr val="241E17"/>
                </a:solidFill>
                <a:latin typeface="Arial"/>
              </a:defRPr>
            </a:pPr>
            <a:r>
              <a:t>Deterministic Polynomial Generation</a:t>
            </a:r>
          </a:p>
          <a:p>
            <a:pPr>
              <a:spcAft>
                <a:spcPts val="400"/>
              </a:spcAft>
              <a:defRPr sz="1100">
                <a:solidFill>
                  <a:srgbClr val="6E5D4E"/>
                </a:solidFill>
                <a:latin typeface="Arial"/>
              </a:defRPr>
            </a:pPr>
            <a:r>
              <a:t>• Degree Invariant: To produce a 32-bit remainder, the polynomial degree must be 32, requiring exactly 33 coefficients.</a:t>
            </a:r>
          </a:p>
          <a:p>
            <a:pPr>
              <a:spcAft>
                <a:spcPts val="400"/>
              </a:spcAft>
              <a:defRPr sz="1100">
                <a:solidFill>
                  <a:srgbClr val="6E5D4E"/>
                </a:solidFill>
                <a:latin typeface="Arial"/>
              </a:defRPr>
            </a:pPr>
            <a:r>
              <a:t>• MSB = 1: Guarantees polynomial degree is strictly x^32.</a:t>
            </a:r>
          </a:p>
          <a:p>
            <a:pPr>
              <a:spcAft>
                <a:spcPts val="400"/>
              </a:spcAft>
              <a:defRPr sz="1100">
                <a:solidFill>
                  <a:srgbClr val="6E5D4E"/>
                </a:solidFill>
                <a:latin typeface="Arial"/>
              </a:defRPr>
            </a:pPr>
            <a:r>
              <a:t>• LSB = 1: Prevents polynomial from being divisible by x, ensuring trailing zero error sensitivity.</a:t>
            </a:r>
          </a:p>
          <a:p>
            <a:pPr>
              <a:spcAft>
                <a:spcPts val="400"/>
              </a:spcAft>
              <a:defRPr sz="1100">
                <a:solidFill>
                  <a:srgbClr val="6E5D4E"/>
                </a:solidFill>
                <a:latin typeface="Arial"/>
              </a:defRPr>
            </a:pPr>
            <a:r>
              <a:t>• Singleton Lifecycle: Generated ONCE when Flask server initializes; persists across all compute and verify requests.</a:t>
            </a:r>
          </a:p>
          <a:p>
            <a:pPr>
              <a:spcAft>
                <a:spcPts val="400"/>
              </a:spcAft>
              <a:defRPr sz="1100">
                <a:solidFill>
                  <a:srgbClr val="6E5D4E"/>
                </a:solidFill>
                <a:latin typeface="Arial"/>
              </a:defRPr>
            </a:pPr>
            <a:r>
              <a:t>• API Transparency: Communicated via GET /api/divisor so external clients remain synchronized.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0" y="1371600"/>
            <a:ext cx="4114800" cy="4754880"/>
          </a:xfrm>
          <a:prstGeom prst="roundRect">
            <a:avLst/>
          </a:prstGeom>
          <a:solidFill>
            <a:srgbClr val="EFE5D5"/>
          </a:solidFill>
          <a:ln w="15240">
            <a:solidFill>
              <a:srgbClr val="E3C0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79792" y="1536192"/>
            <a:ext cx="3785616" cy="44256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900" b="1">
                <a:solidFill>
                  <a:srgbClr val="6E5D4E"/>
                </a:solidFill>
                <a:latin typeface="Arial"/>
              </a:defRPr>
            </a:pPr>
            <a:r>
              <a:t>SPECIFICATION</a:t>
            </a:r>
          </a:p>
          <a:p>
            <a:pPr>
              <a:spcAft>
                <a:spcPts val="600"/>
              </a:spcAft>
              <a:defRPr sz="1400" b="1">
                <a:solidFill>
                  <a:srgbClr val="241E17"/>
                </a:solidFill>
                <a:latin typeface="Arial"/>
              </a:defRPr>
            </a:pPr>
            <a:r>
              <a:t>Divisor Specification</a:t>
            </a:r>
          </a:p>
          <a:p>
            <a:pPr>
              <a:spcAft>
                <a:spcPts val="400"/>
              </a:spcAft>
              <a:defRPr sz="1100">
                <a:solidFill>
                  <a:srgbClr val="6E5D4E"/>
                </a:solidFill>
                <a:latin typeface="Arial"/>
              </a:defRPr>
            </a:pPr>
            <a:r>
              <a:t>Length: 33 bits</a:t>
            </a:r>
          </a:p>
          <a:p>
            <a:pPr>
              <a:spcAft>
                <a:spcPts val="400"/>
              </a:spcAft>
              <a:defRPr sz="1100">
                <a:solidFill>
                  <a:srgbClr val="6E5D4E"/>
                </a:solidFill>
                <a:latin typeface="Arial"/>
              </a:defRPr>
            </a:pPr>
            <a:r>
              <a:t>Degree: 32</a:t>
            </a:r>
          </a:p>
          <a:p>
            <a:pPr>
              <a:spcAft>
                <a:spcPts val="400"/>
              </a:spcAft>
              <a:defRPr sz="1100">
                <a:solidFill>
                  <a:srgbClr val="6E5D4E"/>
                </a:solidFill>
                <a:latin typeface="Arial"/>
              </a:defRPr>
            </a:pPr>
            <a:r>
              <a:t>Format: '1' + 31 random bits + '1'</a:t>
            </a:r>
          </a:p>
          <a:p>
            <a:pPr>
              <a:spcAft>
                <a:spcPts val="400"/>
              </a:spcAft>
              <a:defRPr sz="1100">
                <a:solidFill>
                  <a:srgbClr val="6E5D4E"/>
                </a:solidFill>
                <a:latin typeface="Arial"/>
              </a:defRPr>
            </a:pPr>
            <a:r>
              <a:t>Endpoint: GET /api/divisor</a:t>
            </a:r>
          </a:p>
          <a:p>
            <a:pPr>
              <a:spcAft>
                <a:spcPts val="400"/>
              </a:spcAft>
              <a:defRPr sz="1100">
                <a:solidFill>
                  <a:srgbClr val="6E5D4E"/>
                </a:solidFill>
                <a:latin typeface="Arial"/>
              </a:defRPr>
            </a:pPr>
          </a:p>
          <a:p>
            <a:pPr>
              <a:spcAft>
                <a:spcPts val="400"/>
              </a:spcAft>
              <a:defRPr sz="1100">
                <a:solidFill>
                  <a:srgbClr val="6E5D4E"/>
                </a:solidFill>
                <a:latin typeface="Arial"/>
              </a:defRPr>
            </a:pPr>
            <a:r>
              <a:t>Invariant Rule:</a:t>
            </a:r>
          </a:p>
          <a:p>
            <a:pPr>
              <a:spcAft>
                <a:spcPts val="400"/>
              </a:spcAft>
              <a:defRPr sz="1100">
                <a:solidFill>
                  <a:srgbClr val="6E5D4E"/>
                </a:solidFill>
                <a:latin typeface="Arial"/>
              </a:defRPr>
            </a:pPr>
            <a:r>
              <a:t>Sender &amp; receiver must use the identical 33-bit divisor for algebraic congruence.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8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8229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6E5D4E"/>
                </a:solidFill>
                <a:latin typeface="Arial"/>
              </a:defRPr>
            </a:pPr>
            <a:r>
              <a:t>TRANSMISSION PIPELINE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94360"/>
            <a:ext cx="8686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241E17"/>
                </a:solidFill>
                <a:latin typeface="Arial"/>
              </a:defRPr>
            </a:pPr>
            <a:r>
              <a:t>Sender Pipeline: CRC-32 Computation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241280" y="411480"/>
            <a:ext cx="1188720" cy="365760"/>
          </a:xfrm>
          <a:prstGeom prst="roundRect">
            <a:avLst/>
          </a:prstGeom>
          <a:solidFill>
            <a:srgbClr val="FFFFFF"/>
          </a:solidFill>
          <a:ln>
            <a:solidFill>
              <a:srgbClr val="E2D5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241280" y="411480"/>
            <a:ext cx="1188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6E5D4E"/>
                </a:solidFill>
                <a:latin typeface="Arial"/>
              </a:defRPr>
            </a:pPr>
            <a:r>
              <a:t>SLIDE 05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371600"/>
            <a:ext cx="2560320" cy="47548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D5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96112" y="1536192"/>
            <a:ext cx="2231136" cy="44256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900" b="1">
                <a:solidFill>
                  <a:srgbClr val="6E5D4E"/>
                </a:solidFill>
                <a:latin typeface="Arial"/>
              </a:defRPr>
            </a:pPr>
            <a:r>
              <a:t>ENCODING</a:t>
            </a:r>
          </a:p>
          <a:p>
            <a:pPr>
              <a:spcAft>
                <a:spcPts val="600"/>
              </a:spcAft>
              <a:defRPr sz="1400" b="1">
                <a:solidFill>
                  <a:srgbClr val="241E17"/>
                </a:solidFill>
                <a:latin typeface="Arial"/>
              </a:defRPr>
            </a:pPr>
            <a:r>
              <a:t>Step 1: ASCII Binary</a:t>
            </a:r>
          </a:p>
          <a:p>
            <a:pPr>
              <a:spcAft>
                <a:spcPts val="400"/>
              </a:spcAft>
              <a:defRPr sz="1100">
                <a:solidFill>
                  <a:srgbClr val="6E5D4E"/>
                </a:solidFill>
                <a:latin typeface="Arial"/>
              </a:defRPr>
            </a:pPr>
            <a:r>
              <a:t>Convert text into 8-bit binary stream.</a:t>
            </a:r>
          </a:p>
          <a:p>
            <a:pPr>
              <a:spcAft>
                <a:spcPts val="400"/>
              </a:spcAft>
              <a:defRPr sz="1100">
                <a:solidFill>
                  <a:srgbClr val="6E5D4E"/>
                </a:solidFill>
                <a:latin typeface="Arial"/>
              </a:defRPr>
            </a:pPr>
            <a:r>
              <a:t>'A' -&gt; 01000001</a:t>
            </a:r>
          </a:p>
          <a:p>
            <a:pPr>
              <a:spcAft>
                <a:spcPts val="400"/>
              </a:spcAft>
              <a:defRPr sz="1100">
                <a:solidFill>
                  <a:srgbClr val="6E5D4E"/>
                </a:solidFill>
                <a:latin typeface="Arial"/>
              </a:defRPr>
            </a:pPr>
            <a:r>
              <a:t>Preserves exact log string.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29000" y="1371600"/>
            <a:ext cx="2560320" cy="47548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D5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593592" y="1536192"/>
            <a:ext cx="2231136" cy="44256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900" b="1">
                <a:solidFill>
                  <a:srgbClr val="6E5D4E"/>
                </a:solidFill>
                <a:latin typeface="Arial"/>
              </a:defRPr>
            </a:pPr>
            <a:r>
              <a:t>AUGMENTATION</a:t>
            </a:r>
          </a:p>
          <a:p>
            <a:pPr>
              <a:spcAft>
                <a:spcPts val="600"/>
              </a:spcAft>
              <a:defRPr sz="1400" b="1">
                <a:solidFill>
                  <a:srgbClr val="241E17"/>
                </a:solidFill>
                <a:latin typeface="Arial"/>
              </a:defRPr>
            </a:pPr>
            <a:r>
              <a:t>Step 2: 32-0 Padding</a:t>
            </a:r>
          </a:p>
          <a:p>
            <a:pPr>
              <a:spcAft>
                <a:spcPts val="400"/>
              </a:spcAft>
              <a:defRPr sz="1100">
                <a:solidFill>
                  <a:srgbClr val="6E5D4E"/>
                </a:solidFill>
                <a:latin typeface="Arial"/>
              </a:defRPr>
            </a:pPr>
            <a:r>
              <a:t>Append 32 zeros to binary stream.</a:t>
            </a:r>
          </a:p>
          <a:p>
            <a:pPr>
              <a:spcAft>
                <a:spcPts val="400"/>
              </a:spcAft>
              <a:defRPr sz="1100">
                <a:solidFill>
                  <a:srgbClr val="6E5D4E"/>
                </a:solidFill>
                <a:latin typeface="Arial"/>
              </a:defRPr>
            </a:pPr>
            <a:r>
              <a:t>M(x) * x^32</a:t>
            </a:r>
          </a:p>
          <a:p>
            <a:pPr>
              <a:spcAft>
                <a:spcPts val="400"/>
              </a:spcAft>
              <a:defRPr sz="1100">
                <a:solidFill>
                  <a:srgbClr val="6E5D4E"/>
                </a:solidFill>
                <a:latin typeface="Arial"/>
              </a:defRPr>
            </a:pPr>
            <a:r>
              <a:t>Creates space for checksum.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26480" y="1371600"/>
            <a:ext cx="2560320" cy="47548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D5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91072" y="1536192"/>
            <a:ext cx="2231136" cy="44256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900" b="1">
                <a:solidFill>
                  <a:srgbClr val="6E5D4E"/>
                </a:solidFill>
                <a:latin typeface="Arial"/>
              </a:defRPr>
            </a:pPr>
            <a:r>
              <a:t>XOR DIVISION</a:t>
            </a:r>
          </a:p>
          <a:p>
            <a:pPr>
              <a:spcAft>
                <a:spcPts val="600"/>
              </a:spcAft>
              <a:defRPr sz="1400" b="1">
                <a:solidFill>
                  <a:srgbClr val="241E17"/>
                </a:solidFill>
                <a:latin typeface="Arial"/>
              </a:defRPr>
            </a:pPr>
            <a:r>
              <a:t>Step 3: Modulo-2 Div</a:t>
            </a:r>
          </a:p>
          <a:p>
            <a:pPr>
              <a:spcAft>
                <a:spcPts val="400"/>
              </a:spcAft>
              <a:defRPr sz="1100">
                <a:solidFill>
                  <a:srgbClr val="6E5D4E"/>
                </a:solidFill>
                <a:latin typeface="Arial"/>
              </a:defRPr>
            </a:pPr>
            <a:r>
              <a:t>Run xordiv() with 33-bit divisor.</a:t>
            </a:r>
          </a:p>
          <a:p>
            <a:pPr>
              <a:spcAft>
                <a:spcPts val="400"/>
              </a:spcAft>
              <a:defRPr sz="1100">
                <a:solidFill>
                  <a:srgbClr val="6E5D4E"/>
                </a:solidFill>
                <a:latin typeface="Arial"/>
              </a:defRPr>
            </a:pPr>
            <a:r>
              <a:t>Iterative bitwise XOR.</a:t>
            </a:r>
          </a:p>
          <a:p>
            <a:pPr>
              <a:spcAft>
                <a:spcPts val="400"/>
              </a:spcAft>
              <a:defRPr sz="1100">
                <a:solidFill>
                  <a:srgbClr val="6E5D4E"/>
                </a:solidFill>
                <a:latin typeface="Arial"/>
              </a:defRPr>
            </a:pPr>
            <a:r>
              <a:t>Returns 32-bit remainder.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823960" y="1371600"/>
            <a:ext cx="2560320" cy="47548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D5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988552" y="1536192"/>
            <a:ext cx="2231136" cy="44256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900" b="1">
                <a:solidFill>
                  <a:srgbClr val="6E5D4E"/>
                </a:solidFill>
                <a:latin typeface="Arial"/>
              </a:defRPr>
            </a:pPr>
            <a:r>
              <a:t>PACKAGING</a:t>
            </a:r>
          </a:p>
          <a:p>
            <a:pPr>
              <a:spcAft>
                <a:spcPts val="600"/>
              </a:spcAft>
              <a:defRPr sz="1400" b="1">
                <a:solidFill>
                  <a:srgbClr val="241E17"/>
                </a:solidFill>
                <a:latin typeface="Arial"/>
              </a:defRPr>
            </a:pPr>
            <a:r>
              <a:t>Step 4: Hex Output</a:t>
            </a:r>
          </a:p>
          <a:p>
            <a:pPr>
              <a:spcAft>
                <a:spcPts val="400"/>
              </a:spcAft>
              <a:defRPr sz="1100">
                <a:solidFill>
                  <a:srgbClr val="6E5D4E"/>
                </a:solidFill>
                <a:latin typeface="Arial"/>
              </a:defRPr>
            </a:pPr>
            <a:r>
              <a:t>Convert 32-bit CRC into 8-char hex.</a:t>
            </a:r>
          </a:p>
          <a:p>
            <a:pPr>
              <a:spcAft>
                <a:spcPts val="400"/>
              </a:spcAft>
              <a:defRPr sz="1100">
                <a:solidFill>
                  <a:srgbClr val="6E5D4E"/>
                </a:solidFill>
                <a:latin typeface="Arial"/>
              </a:defRPr>
            </a:pPr>
            <a:r>
              <a:t>Example: 0x4964A71B</a:t>
            </a:r>
          </a:p>
          <a:p>
            <a:pPr>
              <a:spcAft>
                <a:spcPts val="400"/>
              </a:spcAft>
              <a:defRPr sz="1100">
                <a:solidFill>
                  <a:srgbClr val="6E5D4E"/>
                </a:solidFill>
                <a:latin typeface="Arial"/>
              </a:defRPr>
            </a:pPr>
            <a:r>
              <a:t>Transmitted with log.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8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8229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6E5D4E"/>
                </a:solidFill>
                <a:latin typeface="Arial"/>
              </a:defRPr>
            </a:pPr>
            <a:r>
              <a:t>INGESTION PIPELINE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94360"/>
            <a:ext cx="8686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241E17"/>
                </a:solidFill>
                <a:latin typeface="Arial"/>
              </a:defRPr>
            </a:pPr>
            <a:r>
              <a:t>Receiver Pipeline: Verification &amp; Syndrome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241280" y="411480"/>
            <a:ext cx="1188720" cy="365760"/>
          </a:xfrm>
          <a:prstGeom prst="roundRect">
            <a:avLst/>
          </a:prstGeom>
          <a:solidFill>
            <a:srgbClr val="FFFFFF"/>
          </a:solidFill>
          <a:ln>
            <a:solidFill>
              <a:srgbClr val="E2D5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241280" y="411480"/>
            <a:ext cx="1188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6E5D4E"/>
                </a:solidFill>
                <a:latin typeface="Arial"/>
              </a:defRPr>
            </a:pPr>
            <a:r>
              <a:t>SLIDE 06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371600"/>
            <a:ext cx="5303520" cy="47548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D5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96112" y="1536192"/>
            <a:ext cx="4974336" cy="44256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900" b="1">
                <a:solidFill>
                  <a:srgbClr val="6E5D4E"/>
                </a:solidFill>
                <a:latin typeface="Arial"/>
              </a:defRPr>
            </a:pPr>
            <a:r>
              <a:t>RECEIVER STEPS</a:t>
            </a:r>
          </a:p>
          <a:p>
            <a:pPr>
              <a:spcAft>
                <a:spcPts val="600"/>
              </a:spcAft>
              <a:defRPr sz="1400" b="1">
                <a:solidFill>
                  <a:srgbClr val="241E17"/>
                </a:solidFill>
                <a:latin typeface="Arial"/>
              </a:defRPr>
            </a:pPr>
            <a:r>
              <a:t>Codeword Reconstruction &amp; Division</a:t>
            </a:r>
          </a:p>
          <a:p>
            <a:pPr>
              <a:spcAft>
                <a:spcPts val="400"/>
              </a:spcAft>
              <a:defRPr sz="1100">
                <a:solidFill>
                  <a:srgbClr val="6E5D4E"/>
                </a:solidFill>
                <a:latin typeface="Arial"/>
              </a:defRPr>
            </a:pPr>
            <a:r>
              <a:t>1. Receive Text &amp; 32-bit CRC: Ingests transmitted telemetry and purported checksum.</a:t>
            </a:r>
          </a:p>
          <a:p>
            <a:pPr>
              <a:spcAft>
                <a:spcPts val="400"/>
              </a:spcAft>
              <a:defRPr sz="1100">
                <a:solidFill>
                  <a:srgbClr val="6E5D4E"/>
                </a:solidFill>
                <a:latin typeface="Arial"/>
              </a:defRPr>
            </a:pPr>
            <a:r>
              <a:t>2. Convert Log to Binary: Re-encodes text into 8-bit ASCII bitstream M'(x).</a:t>
            </a:r>
          </a:p>
          <a:p>
            <a:pPr>
              <a:spcAft>
                <a:spcPts val="400"/>
              </a:spcAft>
              <a:defRPr sz="1100">
                <a:solidFill>
                  <a:srgbClr val="6E5D4E"/>
                </a:solidFill>
                <a:latin typeface="Arial"/>
              </a:defRPr>
            </a:pPr>
            <a:r>
              <a:t>3. Append Received CRC: Codeword T'(x) = M'(x) + Received CRC (32 bits).</a:t>
            </a:r>
          </a:p>
          <a:p>
            <a:pPr>
              <a:spcAft>
                <a:spcPts val="400"/>
              </a:spcAft>
              <a:defRPr sz="1100">
                <a:solidFill>
                  <a:srgbClr val="6E5D4E"/>
                </a:solidFill>
                <a:latin typeface="Arial"/>
              </a:defRPr>
            </a:pPr>
            <a:r>
              <a:t>4. Modulo-2 Division: Syndrome Remainder R'(x) = xordiv(T'(x), G(x)).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0" y="1371600"/>
            <a:ext cx="5029200" cy="2194560"/>
          </a:xfrm>
          <a:prstGeom prst="roundRect">
            <a:avLst/>
          </a:prstGeom>
          <a:solidFill>
            <a:srgbClr val="EDF5E8"/>
          </a:solidFill>
          <a:ln w="15240">
            <a:solidFill>
              <a:srgbClr val="B5D8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65392" y="1536192"/>
            <a:ext cx="4700016" cy="18653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900" b="1">
                <a:solidFill>
                  <a:srgbClr val="6E5D4E"/>
                </a:solidFill>
                <a:latin typeface="Arial"/>
              </a:defRPr>
            </a:pPr>
            <a:r>
              <a:t>PASSED</a:t>
            </a:r>
          </a:p>
          <a:p>
            <a:pPr>
              <a:spcAft>
                <a:spcPts val="600"/>
              </a:spcAft>
              <a:defRPr sz="1400" b="1">
                <a:solidFill>
                  <a:srgbClr val="275222"/>
                </a:solidFill>
                <a:latin typeface="Arial"/>
              </a:defRPr>
            </a:pPr>
            <a:r>
              <a:t>ACCEPT DECISION (Remainder == 0*32)</a:t>
            </a:r>
          </a:p>
          <a:p>
            <a:pPr>
              <a:spcAft>
                <a:spcPts val="400"/>
              </a:spcAft>
              <a:defRPr sz="1100">
                <a:solidFill>
                  <a:srgbClr val="6E5D4E"/>
                </a:solidFill>
                <a:latin typeface="Arial"/>
              </a:defRPr>
            </a:pPr>
            <a:r>
              <a:t>• Zero Remainder: Proves data integrity is intact.</a:t>
            </a:r>
          </a:p>
          <a:p>
            <a:pPr>
              <a:spcAft>
                <a:spcPts val="400"/>
              </a:spcAft>
              <a:defRPr sz="1100">
                <a:solidFill>
                  <a:srgbClr val="6E5D4E"/>
                </a:solidFill>
                <a:latin typeface="Arial"/>
              </a:defRPr>
            </a:pPr>
            <a:r>
              <a:t>• Result: Log accepted into industrial execution pipeline.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0" y="3931920"/>
            <a:ext cx="5029200" cy="2194560"/>
          </a:xfrm>
          <a:prstGeom prst="roundRect">
            <a:avLst/>
          </a:prstGeom>
          <a:solidFill>
            <a:srgbClr val="FAEAE6"/>
          </a:solidFill>
          <a:ln w="15240">
            <a:solidFill>
              <a:srgbClr val="E6B4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65392" y="4096512"/>
            <a:ext cx="4700016" cy="18653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900" b="1">
                <a:solidFill>
                  <a:srgbClr val="6E5D4E"/>
                </a:solidFill>
                <a:latin typeface="Arial"/>
              </a:defRPr>
            </a:pPr>
            <a:r>
              <a:t>TAMPER DETECTED</a:t>
            </a:r>
          </a:p>
          <a:p>
            <a:pPr>
              <a:spcAft>
                <a:spcPts val="600"/>
              </a:spcAft>
              <a:defRPr sz="1400" b="1">
                <a:solidFill>
                  <a:srgbClr val="82271D"/>
                </a:solidFill>
                <a:latin typeface="Arial"/>
              </a:defRPr>
            </a:pPr>
            <a:r>
              <a:t>REJECT DECISION (Remainder != 0*32)</a:t>
            </a:r>
          </a:p>
          <a:p>
            <a:pPr>
              <a:spcAft>
                <a:spcPts val="400"/>
              </a:spcAft>
              <a:defRPr sz="1100">
                <a:solidFill>
                  <a:srgbClr val="6E5D4E"/>
                </a:solidFill>
                <a:latin typeface="Arial"/>
              </a:defRPr>
            </a:pPr>
            <a:r>
              <a:t>• Non-Zero Syndrome: Indicates bit flip, noise, or tampering.</a:t>
            </a:r>
          </a:p>
          <a:p>
            <a:pPr>
              <a:spcAft>
                <a:spcPts val="400"/>
              </a:spcAft>
              <a:defRPr sz="1100">
                <a:solidFill>
                  <a:srgbClr val="6E5D4E"/>
                </a:solidFill>
                <a:latin typeface="Arial"/>
              </a:defRPr>
            </a:pPr>
            <a:r>
              <a:t>• Result: Log rejected and quarantined immediately.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8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8229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6E5D4E"/>
                </a:solidFill>
                <a:latin typeface="Arial"/>
              </a:defRPr>
            </a:pPr>
            <a:r>
              <a:t>ENGINEERING RIGOR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94360"/>
            <a:ext cx="8686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241E17"/>
                </a:solidFill>
                <a:latin typeface="Arial"/>
              </a:defRPr>
            </a:pPr>
            <a:r>
              <a:t>Zero Black-Box Architecture: No zlib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241280" y="411480"/>
            <a:ext cx="1188720" cy="365760"/>
          </a:xfrm>
          <a:prstGeom prst="roundRect">
            <a:avLst/>
          </a:prstGeom>
          <a:solidFill>
            <a:srgbClr val="FFFFFF"/>
          </a:solidFill>
          <a:ln>
            <a:solidFill>
              <a:srgbClr val="E2D5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241280" y="411480"/>
            <a:ext cx="1188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6E5D4E"/>
                </a:solidFill>
                <a:latin typeface="Arial"/>
              </a:defRPr>
            </a:pPr>
            <a:r>
              <a:t>SLIDE 07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371600"/>
            <a:ext cx="5029200" cy="4754880"/>
          </a:xfrm>
          <a:prstGeom prst="roundRect">
            <a:avLst/>
          </a:prstGeom>
          <a:solidFill>
            <a:srgbClr val="FAEAE6"/>
          </a:solidFill>
          <a:ln w="15240">
            <a:solidFill>
              <a:srgbClr val="E6B4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96112" y="1536192"/>
            <a:ext cx="4700016" cy="44256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900" b="1">
                <a:solidFill>
                  <a:srgbClr val="6E5D4E"/>
                </a:solidFill>
                <a:latin typeface="Arial"/>
              </a:defRPr>
            </a:pPr>
            <a:r>
              <a:t>LIBRARY LIMITATIONS</a:t>
            </a:r>
          </a:p>
          <a:p>
            <a:pPr>
              <a:spcAft>
                <a:spcPts val="600"/>
              </a:spcAft>
              <a:defRPr sz="1400" b="1">
                <a:solidFill>
                  <a:srgbClr val="82271D"/>
                </a:solidFill>
                <a:latin typeface="Arial"/>
              </a:defRPr>
            </a:pPr>
            <a:r>
              <a:t>Why Reject Standard Libraries?</a:t>
            </a:r>
          </a:p>
          <a:p>
            <a:pPr>
              <a:spcAft>
                <a:spcPts val="400"/>
              </a:spcAft>
              <a:defRPr sz="1100">
                <a:solidFill>
                  <a:srgbClr val="6E5D4E"/>
                </a:solidFill>
                <a:latin typeface="Arial"/>
              </a:defRPr>
            </a:pPr>
            <a:r>
              <a:t>• Opaque C Implementations: Libraries like zlib.crc32() or binascii hide bitwise long division mechanics.</a:t>
            </a:r>
          </a:p>
          <a:p>
            <a:pPr>
              <a:spcAft>
                <a:spcPts val="400"/>
              </a:spcAft>
              <a:defRPr sz="1100">
                <a:solidFill>
                  <a:srgbClr val="6E5D4E"/>
                </a:solidFill>
                <a:latin typeface="Arial"/>
              </a:defRPr>
            </a:pPr>
            <a:r>
              <a:t>• Fixed Static Generators: Standard libraries only support fixed IEEE 802.3 polynomials; cannot test custom session polynomials.</a:t>
            </a:r>
          </a:p>
          <a:p>
            <a:pPr>
              <a:spcAft>
                <a:spcPts val="400"/>
              </a:spcAft>
              <a:defRPr sz="1100">
                <a:solidFill>
                  <a:srgbClr val="6E5D4E"/>
                </a:solidFill>
                <a:latin typeface="Arial"/>
              </a:defRPr>
            </a:pPr>
            <a:r>
              <a:t>• Viva Disqualification: Using standard black-box calls demonstrates library usage, not computer networks / OS understanding.</a:t>
            </a:r>
          </a:p>
          <a:p>
            <a:pPr>
              <a:spcAft>
                <a:spcPts val="400"/>
              </a:spcAft>
              <a:defRPr sz="1100">
                <a:solidFill>
                  <a:srgbClr val="6E5D4E"/>
                </a:solidFill>
                <a:latin typeface="Arial"/>
              </a:defRPr>
            </a:pPr>
            <a:r>
              <a:t>• Lack of Observability: Impossible to inspect intermediate register state transitions.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26480" y="1371600"/>
            <a:ext cx="5303520" cy="4754880"/>
          </a:xfrm>
          <a:prstGeom prst="roundRect">
            <a:avLst/>
          </a:prstGeom>
          <a:solidFill>
            <a:srgbClr val="EDF5E8"/>
          </a:solidFill>
          <a:ln w="15240">
            <a:solidFill>
              <a:srgbClr val="B5D8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91072" y="1536192"/>
            <a:ext cx="4974336" cy="44256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900" b="1">
                <a:solidFill>
                  <a:srgbClr val="6E5D4E"/>
                </a:solidFill>
                <a:latin typeface="Arial"/>
              </a:defRPr>
            </a:pPr>
            <a:r>
              <a:t>OUR IMPLEMENTATION</a:t>
            </a:r>
          </a:p>
          <a:p>
            <a:pPr>
              <a:spcAft>
                <a:spcPts val="600"/>
              </a:spcAft>
              <a:defRPr sz="1400" b="1">
                <a:solidFill>
                  <a:srgbClr val="275222"/>
                </a:solidFill>
                <a:latin typeface="Arial"/>
              </a:defRPr>
            </a:pPr>
            <a:r>
              <a:t>Our Pure Python Modulo-2 Engine</a:t>
            </a:r>
          </a:p>
          <a:p>
            <a:pPr>
              <a:spcAft>
                <a:spcPts val="400"/>
              </a:spcAft>
              <a:defRPr sz="1100">
                <a:solidFill>
                  <a:srgbClr val="6E5D4E"/>
                </a:solidFill>
                <a:latin typeface="Arial"/>
              </a:defRPr>
            </a:pPr>
            <a:r>
              <a:t>• Pure Bitwise XOR Logic: Implemented using native XOR (^) across array registers without external libraries.</a:t>
            </a:r>
          </a:p>
          <a:p>
            <a:pPr>
              <a:spcAft>
                <a:spcPts val="400"/>
              </a:spcAft>
              <a:defRPr sz="1100">
                <a:solidFill>
                  <a:srgbClr val="6E5D4E"/>
                </a:solidFill>
                <a:latin typeface="Arial"/>
              </a:defRPr>
            </a:pPr>
            <a:r>
              <a:t>• Complete Intermediate Trace: Full insight into original binary, 32-0 padded dividend, divisor, and remainder.</a:t>
            </a:r>
          </a:p>
          <a:p>
            <a:pPr>
              <a:spcAft>
                <a:spcPts val="400"/>
              </a:spcAft>
              <a:defRPr sz="1100">
                <a:solidFill>
                  <a:srgbClr val="6E5D4E"/>
                </a:solidFill>
                <a:latin typeface="Arial"/>
              </a:defRPr>
            </a:pPr>
            <a:r>
              <a:t>• Dynamic Polynomial Support: Works with any arbitrary degree-32 generator polynomial.</a:t>
            </a:r>
          </a:p>
          <a:p>
            <a:pPr>
              <a:spcAft>
                <a:spcPts val="400"/>
              </a:spcAft>
              <a:defRPr sz="1100">
                <a:solidFill>
                  <a:srgbClr val="6E5D4E"/>
                </a:solidFill>
                <a:latin typeface="Arial"/>
              </a:defRPr>
            </a:pPr>
            <a:r>
              <a:t>• Deterministic Performance: High throughput Python engine optimized for clarity and auditability.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8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8229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6E5D4E"/>
                </a:solidFill>
                <a:latin typeface="Arial"/>
              </a:defRPr>
            </a:pPr>
            <a:r>
              <a:t>INTERFACE DESIGN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94360"/>
            <a:ext cx="8686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241E17"/>
                </a:solidFill>
                <a:latin typeface="Arial"/>
              </a:defRPr>
            </a:pPr>
            <a:r>
              <a:t>UI Architecture: 2-Row Single-Screen Layout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241280" y="411480"/>
            <a:ext cx="1188720" cy="365760"/>
          </a:xfrm>
          <a:prstGeom prst="roundRect">
            <a:avLst/>
          </a:prstGeom>
          <a:solidFill>
            <a:srgbClr val="FFFFFF"/>
          </a:solidFill>
          <a:ln>
            <a:solidFill>
              <a:srgbClr val="E2D5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241280" y="411480"/>
            <a:ext cx="1188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6E5D4E"/>
                </a:solidFill>
                <a:latin typeface="Arial"/>
              </a:defRPr>
            </a:pPr>
            <a:r>
              <a:t>SLIDE 08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371600"/>
            <a:ext cx="3474720" cy="47548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D5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96112" y="1536192"/>
            <a:ext cx="3145536" cy="44256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900" b="1">
                <a:solidFill>
                  <a:srgbClr val="6E5D4E"/>
                </a:solidFill>
                <a:latin typeface="Arial"/>
              </a:defRPr>
            </a:pPr>
            <a:r>
              <a:t>INPUT SYSTEM</a:t>
            </a:r>
          </a:p>
          <a:p>
            <a:pPr>
              <a:spcAft>
                <a:spcPts val="600"/>
              </a:spcAft>
              <a:defRPr sz="1400" b="1">
                <a:solidFill>
                  <a:srgbClr val="241E17"/>
                </a:solidFill>
                <a:latin typeface="Arial"/>
              </a:defRPr>
            </a:pPr>
            <a:r>
              <a:t>Row 1 (Top): Input Bay</a:t>
            </a:r>
          </a:p>
          <a:p>
            <a:pPr>
              <a:spcAft>
                <a:spcPts val="400"/>
              </a:spcAft>
              <a:defRPr sz="1100">
                <a:solidFill>
                  <a:srgbClr val="6E5D4E"/>
                </a:solidFill>
                <a:latin typeface="Arial"/>
              </a:defRPr>
            </a:pPr>
            <a:r>
              <a:t>• Left: Original machine log input + file upload + sample generator.</a:t>
            </a:r>
          </a:p>
          <a:p>
            <a:pPr>
              <a:spcAft>
                <a:spcPts val="400"/>
              </a:spcAft>
              <a:defRPr sz="1100">
                <a:solidFill>
                  <a:srgbClr val="6E5D4E"/>
                </a:solidFill>
                <a:latin typeface="Arial"/>
              </a:defRPr>
            </a:pPr>
            <a:r>
              <a:t>• Right: Received log input + CRC entry + instant verification trigger.</a:t>
            </a:r>
          </a:p>
          <a:p>
            <a:pPr>
              <a:spcAft>
                <a:spcPts val="400"/>
              </a:spcAft>
              <a:defRPr sz="1100">
                <a:solidFill>
                  <a:srgbClr val="6E5D4E"/>
                </a:solidFill>
                <a:latin typeface="Arial"/>
              </a:defRPr>
            </a:pPr>
            <a:r>
              <a:t>• Compact 110px height with no layout jumping.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43400" y="1371600"/>
            <a:ext cx="3474720" cy="47548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D5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07992" y="1536192"/>
            <a:ext cx="3145536" cy="44256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900" b="1">
                <a:solidFill>
                  <a:srgbClr val="6E5D4E"/>
                </a:solidFill>
                <a:latin typeface="Arial"/>
              </a:defRPr>
            </a:pPr>
            <a:r>
              <a:t>TELEMETRY LOGS</a:t>
            </a:r>
          </a:p>
          <a:p>
            <a:pPr>
              <a:spcAft>
                <a:spcPts val="600"/>
              </a:spcAft>
              <a:defRPr sz="1400" b="1">
                <a:solidFill>
                  <a:srgbClr val="241E17"/>
                </a:solidFill>
                <a:latin typeface="Arial"/>
              </a:defRPr>
            </a:pPr>
            <a:r>
              <a:t>Row 2 (Bottom): Steps</a:t>
            </a:r>
          </a:p>
          <a:p>
            <a:pPr>
              <a:spcAft>
                <a:spcPts val="400"/>
              </a:spcAft>
              <a:defRPr sz="1100">
                <a:solidFill>
                  <a:srgbClr val="6E5D4E"/>
                </a:solidFill>
                <a:latin typeface="Arial"/>
              </a:defRPr>
            </a:pPr>
            <a:r>
              <a:t>• Left: Sender calculation steps (binary, padded, remainder).</a:t>
            </a:r>
          </a:p>
          <a:p>
            <a:pPr>
              <a:spcAft>
                <a:spcPts val="400"/>
              </a:spcAft>
              <a:defRPr sz="1100">
                <a:solidFill>
                  <a:srgbClr val="6E5D4E"/>
                </a:solidFill>
                <a:latin typeface="Arial"/>
              </a:defRPr>
            </a:pPr>
            <a:r>
              <a:t>• Right: Receiver verification steps (codeword, syndrome remainder, accept/reject).</a:t>
            </a:r>
          </a:p>
          <a:p>
            <a:pPr>
              <a:spcAft>
                <a:spcPts val="400"/>
              </a:spcAft>
              <a:defRPr sz="1100">
                <a:solidFill>
                  <a:srgbClr val="6E5D4E"/>
                </a:solidFill>
                <a:latin typeface="Arial"/>
              </a:defRPr>
            </a:pPr>
            <a:r>
              <a:t>• Internal 6px subtle scrollbars; zero page overflow.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955280" y="1371600"/>
            <a:ext cx="3474720" cy="47548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D5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119872" y="1536192"/>
            <a:ext cx="3145536" cy="44256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900" b="1">
                <a:solidFill>
                  <a:srgbClr val="6E5D4E"/>
                </a:solidFill>
                <a:latin typeface="Arial"/>
              </a:defRPr>
            </a:pPr>
            <a:r>
              <a:t>VISUAL SYSTEM</a:t>
            </a:r>
          </a:p>
          <a:p>
            <a:pPr>
              <a:spcAft>
                <a:spcPts val="600"/>
              </a:spcAft>
              <a:defRPr sz="1400" b="1">
                <a:solidFill>
                  <a:srgbClr val="241E17"/>
                </a:solidFill>
                <a:latin typeface="Arial"/>
              </a:defRPr>
            </a:pPr>
            <a:r>
              <a:t>Warm Monotone Styling</a:t>
            </a:r>
          </a:p>
          <a:p>
            <a:pPr>
              <a:spcAft>
                <a:spcPts val="400"/>
              </a:spcAft>
              <a:defRPr sz="1100">
                <a:solidFill>
                  <a:srgbClr val="6E5D4E"/>
                </a:solidFill>
                <a:latin typeface="Arial"/>
              </a:defRPr>
            </a:pPr>
            <a:r>
              <a:t>• Aesthetic: Warm ivory (#fff8e7), almond (#f3e6d6), ochre (#e3c08f).</a:t>
            </a:r>
          </a:p>
          <a:p>
            <a:pPr>
              <a:spcAft>
                <a:spcPts val="400"/>
              </a:spcAft>
              <a:defRPr sz="1100">
                <a:solidFill>
                  <a:srgbClr val="6E5D4E"/>
                </a:solidFill>
                <a:latin typeface="Arial"/>
              </a:defRPr>
            </a:pPr>
            <a:r>
              <a:t>• Navbar: Clean title + plain SVG sun/moon toggle (no box).</a:t>
            </a:r>
          </a:p>
          <a:p>
            <a:pPr>
              <a:spcAft>
                <a:spcPts val="400"/>
              </a:spcAft>
              <a:defRPr sz="1100">
                <a:solidFill>
                  <a:srgbClr val="6E5D4E"/>
                </a:solidFill>
                <a:latin typeface="Arial"/>
              </a:defRPr>
            </a:pPr>
            <a:r>
              <a:t>• Typography: Plus Jakarta Sans + JetBrains Mono.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8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8229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6E5D4E"/>
                </a:solidFill>
                <a:latin typeface="Arial"/>
              </a:defRPr>
            </a:pPr>
            <a:r>
              <a:t>ACADEMIC DEFENSE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94360"/>
            <a:ext cx="8686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241E17"/>
                </a:solidFill>
                <a:latin typeface="Arial"/>
              </a:defRPr>
            </a:pPr>
            <a:r>
              <a:t>Viva Voce Preparation &amp; Technical Defense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241280" y="411480"/>
            <a:ext cx="1188720" cy="365760"/>
          </a:xfrm>
          <a:prstGeom prst="roundRect">
            <a:avLst/>
          </a:prstGeom>
          <a:solidFill>
            <a:srgbClr val="FFFFFF"/>
          </a:solidFill>
          <a:ln>
            <a:solidFill>
              <a:srgbClr val="E2D5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241280" y="411480"/>
            <a:ext cx="1188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6E5D4E"/>
                </a:solidFill>
                <a:latin typeface="Arial"/>
              </a:defRPr>
            </a:pPr>
            <a:r>
              <a:t>SLIDE 09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371600"/>
            <a:ext cx="5212080" cy="47548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D5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96112" y="1536192"/>
            <a:ext cx="4882896" cy="44256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900" b="1">
                <a:solidFill>
                  <a:srgbClr val="6E5D4E"/>
                </a:solidFill>
                <a:latin typeface="Arial"/>
              </a:defRPr>
            </a:pPr>
            <a:r>
              <a:t>EXAMINER QUESTION 01</a:t>
            </a:r>
          </a:p>
          <a:p>
            <a:pPr>
              <a:spcAft>
                <a:spcPts val="600"/>
              </a:spcAft>
              <a:defRPr sz="1400" b="1">
                <a:solidFill>
                  <a:srgbClr val="241E17"/>
                </a:solidFill>
                <a:latin typeface="Arial"/>
              </a:defRPr>
            </a:pPr>
            <a:r>
              <a:t>Q1: Why 33-bit Divisor for 32-bit CRC?</a:t>
            </a:r>
          </a:p>
          <a:p>
            <a:pPr>
              <a:spcAft>
                <a:spcPts val="400"/>
              </a:spcAft>
              <a:defRPr sz="1100">
                <a:solidFill>
                  <a:srgbClr val="6E5D4E"/>
                </a:solidFill>
                <a:latin typeface="Arial"/>
              </a:defRPr>
            </a:pPr>
            <a:r>
              <a:t>• Examiner Trap: Assuming an n-bit CRC uses an n-bit divisor.</a:t>
            </a:r>
          </a:p>
          <a:p>
            <a:pPr>
              <a:spcAft>
                <a:spcPts val="400"/>
              </a:spcAft>
              <a:defRPr sz="1100">
                <a:solidFill>
                  <a:srgbClr val="6E5D4E"/>
                </a:solidFill>
                <a:latin typeface="Arial"/>
              </a:defRPr>
            </a:pPr>
            <a:r>
              <a:t>• Mathematical Reason: A polynomial of degree n requires n+1 coefficients (x^32 + ... + 1 = 33 bits).</a:t>
            </a:r>
          </a:p>
          <a:p>
            <a:pPr>
              <a:spcAft>
                <a:spcPts val="400"/>
              </a:spcAft>
              <a:defRPr sz="1100">
                <a:solidFill>
                  <a:srgbClr val="6E5D4E"/>
                </a:solidFill>
                <a:latin typeface="Arial"/>
              </a:defRPr>
            </a:pPr>
            <a:r>
              <a:t>• Remainder Degree: Long division by degree-32 divisor strictly produces a remainder of degree &lt;= 31 (exactly 32 bits).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60" y="1371600"/>
            <a:ext cx="5120640" cy="4754880"/>
          </a:xfrm>
          <a:prstGeom prst="roundRect">
            <a:avLst/>
          </a:prstGeom>
          <a:solidFill>
            <a:srgbClr val="EFE5D5"/>
          </a:solidFill>
          <a:ln w="15240">
            <a:solidFill>
              <a:srgbClr val="E3C0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73952" y="1536192"/>
            <a:ext cx="4791456" cy="44256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900" b="1">
                <a:solidFill>
                  <a:srgbClr val="6E5D4E"/>
                </a:solidFill>
                <a:latin typeface="Arial"/>
              </a:defRPr>
            </a:pPr>
            <a:r>
              <a:t>EXAMINER QUESTION 02</a:t>
            </a:r>
          </a:p>
          <a:p>
            <a:pPr>
              <a:spcAft>
                <a:spcPts val="600"/>
              </a:spcAft>
              <a:defRPr sz="1400" b="1">
                <a:solidFill>
                  <a:srgbClr val="241E17"/>
                </a:solidFill>
                <a:latin typeface="Arial"/>
              </a:defRPr>
            </a:pPr>
            <a:r>
              <a:t>Q2: Why Modulo-2 Division?</a:t>
            </a:r>
          </a:p>
          <a:p>
            <a:pPr>
              <a:spcAft>
                <a:spcPts val="400"/>
              </a:spcAft>
              <a:defRPr sz="1100">
                <a:solidFill>
                  <a:srgbClr val="6E5D4E"/>
                </a:solidFill>
                <a:latin typeface="Arial"/>
              </a:defRPr>
            </a:pPr>
            <a:r>
              <a:t>• Examiner Trap: Why not standard arithmetic division?</a:t>
            </a:r>
          </a:p>
          <a:p>
            <a:pPr>
              <a:spcAft>
                <a:spcPts val="400"/>
              </a:spcAft>
              <a:defRPr sz="1100">
                <a:solidFill>
                  <a:srgbClr val="6E5D4E"/>
                </a:solidFill>
                <a:latin typeface="Arial"/>
              </a:defRPr>
            </a:pPr>
            <a:r>
              <a:t>• Hardware Reality: Integer division requires carry/borrow propagation logic that is slow in hardware.</a:t>
            </a:r>
          </a:p>
          <a:p>
            <a:pPr>
              <a:spcAft>
                <a:spcPts val="400"/>
              </a:spcAft>
              <a:defRPr sz="1100">
                <a:solidFill>
                  <a:srgbClr val="6E5D4E"/>
                </a:solidFill>
                <a:latin typeface="Arial"/>
              </a:defRPr>
            </a:pPr>
            <a:r>
              <a:t>• Line-Rate Speed: Modulo-2 XOR division maps to single-cycle hardware XOR gates and shift registers for 100 Gbps line rates.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8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8229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6E5D4E"/>
                </a:solidFill>
                <a:latin typeface="Arial"/>
              </a:defRPr>
            </a:pPr>
            <a:r>
              <a:t>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94360"/>
            <a:ext cx="8686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241E17"/>
                </a:solidFill>
                <a:latin typeface="Arial"/>
              </a:defRPr>
            </a:pPr>
            <a:r>
              <a:t>System Specifications &amp; Deliverables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241280" y="411480"/>
            <a:ext cx="1188720" cy="365760"/>
          </a:xfrm>
          <a:prstGeom prst="roundRect">
            <a:avLst/>
          </a:prstGeom>
          <a:solidFill>
            <a:srgbClr val="FFFFFF"/>
          </a:solidFill>
          <a:ln>
            <a:solidFill>
              <a:srgbClr val="E2D5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241280" y="411480"/>
            <a:ext cx="1188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6E5D4E"/>
                </a:solidFill>
                <a:latin typeface="Arial"/>
              </a:defRPr>
            </a:pPr>
            <a:r>
              <a:t>SLIDE 10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371600"/>
            <a:ext cx="5486400" cy="47548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D5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96112" y="1536192"/>
            <a:ext cx="5157216" cy="44256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900" b="1">
                <a:solidFill>
                  <a:srgbClr val="6E5D4E"/>
                </a:solidFill>
                <a:latin typeface="Arial"/>
              </a:defRPr>
            </a:pPr>
            <a:r>
              <a:t>SYSTEM DELIVERABLES</a:t>
            </a:r>
          </a:p>
          <a:p>
            <a:pPr>
              <a:spcAft>
                <a:spcPts val="600"/>
              </a:spcAft>
              <a:defRPr sz="1400" b="1">
                <a:solidFill>
                  <a:srgbClr val="241E17"/>
                </a:solidFill>
                <a:latin typeface="Arial"/>
              </a:defRPr>
            </a:pPr>
            <a:r>
              <a:t>Deliverable Architecture</a:t>
            </a:r>
          </a:p>
          <a:p>
            <a:pPr>
              <a:spcAft>
                <a:spcPts val="400"/>
              </a:spcAft>
              <a:defRPr sz="1100">
                <a:solidFill>
                  <a:srgbClr val="6E5D4E"/>
                </a:solidFill>
                <a:latin typeface="Arial"/>
              </a:defRPr>
            </a:pPr>
            <a:r>
              <a:t>• Backend: Flask REST server (Python) running on port 5000.</a:t>
            </a:r>
          </a:p>
          <a:p>
            <a:pPr>
              <a:spcAft>
                <a:spcPts val="400"/>
              </a:spcAft>
              <a:defRPr sz="1100">
                <a:solidFill>
                  <a:srgbClr val="6E5D4E"/>
                </a:solidFill>
                <a:latin typeface="Arial"/>
              </a:defRPr>
            </a:pPr>
            <a:r>
              <a:t>• Mathematical Core: Zero-dependency GF(2) XOR polynomial engine.</a:t>
            </a:r>
          </a:p>
          <a:p>
            <a:pPr>
              <a:spcAft>
                <a:spcPts val="400"/>
              </a:spcAft>
              <a:defRPr sz="1100">
                <a:solidFill>
                  <a:srgbClr val="6E5D4E"/>
                </a:solidFill>
                <a:latin typeface="Arial"/>
              </a:defRPr>
            </a:pPr>
            <a:r>
              <a:t>• Web UI: 2-Row single-viewport dashboard with warm monotone styling.</a:t>
            </a:r>
          </a:p>
          <a:p>
            <a:pPr>
              <a:spcAft>
                <a:spcPts val="400"/>
              </a:spcAft>
              <a:defRPr sz="1100">
                <a:solidFill>
                  <a:srgbClr val="6E5D4E"/>
                </a:solidFill>
                <a:latin typeface="Arial"/>
              </a:defRPr>
            </a:pPr>
            <a:r>
              <a:t>• Presentation: 10-slide high-end deck (PPTX + HTML + PDF).</a:t>
            </a:r>
          </a:p>
          <a:p>
            <a:pPr>
              <a:spcAft>
                <a:spcPts val="400"/>
              </a:spcAft>
              <a:defRPr sz="1100">
                <a:solidFill>
                  <a:srgbClr val="6E5D4E"/>
                </a:solidFill>
                <a:latin typeface="Arial"/>
              </a:defRPr>
            </a:pPr>
            <a:r>
              <a:t>• GitHub Repository: Clean, fully committed, production ready.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0" y="1371600"/>
            <a:ext cx="4846320" cy="4754880"/>
          </a:xfrm>
          <a:prstGeom prst="roundRect">
            <a:avLst/>
          </a:prstGeom>
          <a:solidFill>
            <a:srgbClr val="EDF5E8"/>
          </a:solidFill>
          <a:ln w="15240">
            <a:solidFill>
              <a:srgbClr val="B5D8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748272" y="1536192"/>
            <a:ext cx="4517136" cy="44256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900" b="1">
                <a:solidFill>
                  <a:srgbClr val="6E5D4E"/>
                </a:solidFill>
                <a:latin typeface="Arial"/>
              </a:defRPr>
            </a:pPr>
            <a:r>
              <a:t>MATHEMATICAL PROOF</a:t>
            </a:r>
          </a:p>
          <a:p>
            <a:pPr>
              <a:spcAft>
                <a:spcPts val="600"/>
              </a:spcAft>
              <a:defRPr sz="1400" b="1">
                <a:solidFill>
                  <a:srgbClr val="275222"/>
                </a:solidFill>
                <a:latin typeface="Arial"/>
              </a:defRPr>
            </a:pPr>
            <a:r>
              <a:t>Integrity Verification Guarantees</a:t>
            </a:r>
          </a:p>
          <a:p>
            <a:pPr>
              <a:spcAft>
                <a:spcPts val="400"/>
              </a:spcAft>
              <a:defRPr sz="1100">
                <a:solidFill>
                  <a:srgbClr val="6E5D4E"/>
                </a:solidFill>
                <a:latin typeface="Arial"/>
              </a:defRPr>
            </a:pPr>
            <a:r>
              <a:t>• Single-bit errors: 100% Detected</a:t>
            </a:r>
          </a:p>
          <a:p>
            <a:pPr>
              <a:spcAft>
                <a:spcPts val="400"/>
              </a:spcAft>
              <a:defRPr sz="1100">
                <a:solidFill>
                  <a:srgbClr val="6E5D4E"/>
                </a:solidFill>
                <a:latin typeface="Arial"/>
              </a:defRPr>
            </a:pPr>
            <a:r>
              <a:t>• Double-bit errors: 100% Detected</a:t>
            </a:r>
          </a:p>
          <a:p>
            <a:pPr>
              <a:spcAft>
                <a:spcPts val="400"/>
              </a:spcAft>
              <a:defRPr sz="1100">
                <a:solidFill>
                  <a:srgbClr val="6E5D4E"/>
                </a:solidFill>
                <a:latin typeface="Arial"/>
              </a:defRPr>
            </a:pPr>
            <a:r>
              <a:t>• Odd number of errors: 100% Detected</a:t>
            </a:r>
          </a:p>
          <a:p>
            <a:pPr>
              <a:spcAft>
                <a:spcPts val="400"/>
              </a:spcAft>
              <a:defRPr sz="1100">
                <a:solidFill>
                  <a:srgbClr val="6E5D4E"/>
                </a:solidFill>
                <a:latin typeface="Arial"/>
              </a:defRPr>
            </a:pPr>
            <a:r>
              <a:t>• Burst errors &lt;= 32 bits: 100% Detected</a:t>
            </a:r>
          </a:p>
          <a:p>
            <a:pPr>
              <a:spcAft>
                <a:spcPts val="400"/>
              </a:spcAft>
              <a:defRPr sz="1100">
                <a:solidFill>
                  <a:srgbClr val="6E5D4E"/>
                </a:solidFill>
                <a:latin typeface="Arial"/>
              </a:defRPr>
            </a:pPr>
            <a:r>
              <a:t>• Longer burst errors: 99.99999997% Detected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