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E5D4E"/>
                </a:solidFill>
                <a:latin typeface="Arial"/>
              </a:defRPr>
            </a:pPr>
            <a:r>
              <a:t>SR UNIVERSITY • DEPT OF CSE • OS &amp; CN LAB PROJECT (PRODUCT 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400" b="1">
                <a:solidFill>
                  <a:srgbClr val="241E17"/>
                </a:solidFill>
                <a:latin typeface="Arial"/>
              </a:defRPr>
            </a:pPr>
            <a:r>
              <a:t>Industrial Machine Log Integrity Checker</a:t>
            </a:r>
          </a:p>
          <a:p>
            <a:pPr>
              <a:defRPr sz="1500">
                <a:solidFill>
                  <a:srgbClr val="6E5D4E"/>
                </a:solidFill>
                <a:latin typeface="Arial"/>
              </a:defRPr>
            </a:pPr>
            <a:r>
              <a:t>Zero-Dependency Modulo-2 Polynomial Division &amp; Telemetry Error Detection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048256"/>
            <a:ext cx="4828032" cy="413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E5D4E"/>
                </a:solidFill>
                <a:latin typeface="Arial"/>
              </a:defRPr>
            </a:pPr>
            <a:r>
              <a:t>PRODUCT OVERVIEW</a:t>
            </a:r>
          </a:p>
          <a:p>
            <a:pPr>
              <a:spcAft>
                <a:spcPts val="500"/>
              </a:spcAft>
              <a:defRPr sz="1350" b="1">
                <a:solidFill>
                  <a:srgbClr val="241E17"/>
                </a:solidFill>
                <a:latin typeface="Arial"/>
              </a:defRPr>
            </a:pPr>
            <a:r>
              <a:t>Problem Statement &amp; Objective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Industrial Context: SCADA, robotics, and PLC telemetry logs are transmitted across noisy industrial lines (RS-485, CAN bus, Modbus TCP) susceptible to electromagnetic noise and tampering.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Silent Corruption: A single flipped bit alters critical sensor logs (e.g. '8' -&gt; '9' flips TEMP:82.4C to 92.4C), leading to false shutdowns or unflagged catastrophic failures.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Core Solution: A hardware-deterministic, session-fixed 33-bit CRC-32 polynomial division engine that validates transmission integrity in real time with 100% burst error detection.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GitHub Repository: https://github.com/rogeralukka/OS-CN-Product-8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920240"/>
            <a:ext cx="5394960" cy="4389120"/>
          </a:xfrm>
          <a:prstGeom prst="roundRect">
            <a:avLst/>
          </a:prstGeom>
          <a:solidFill>
            <a:srgbClr val="EFE5D5"/>
          </a:solidFill>
          <a:ln w="13970">
            <a:solidFill>
              <a:srgbClr val="E3C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81344" y="2048256"/>
            <a:ext cx="5102352" cy="413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E5D4E"/>
                </a:solidFill>
                <a:latin typeface="Arial"/>
              </a:defRPr>
            </a:pPr>
            <a:r>
              <a:t>TEAM ROLE DISTRIBUTION (GUIDELINE SECTION 10)</a:t>
            </a:r>
          </a:p>
          <a:p>
            <a:pPr>
              <a:spcAft>
                <a:spcPts val="500"/>
              </a:spcAft>
              <a:defRPr sz="1350" b="1">
                <a:solidFill>
                  <a:srgbClr val="241E17"/>
                </a:solidFill>
                <a:latin typeface="Arial"/>
              </a:defRPr>
            </a:pPr>
            <a:r>
              <a:t>Group VIII Members &amp; Demonstration Responsibilities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1. ROGER A RAJU (Lead / Architecture): Problem statement, product overview, software workflow &amp; dataset management (Slide 1 &amp; 2).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2. K. ROHIT GOUD (Algorithms Lead): GF(2) Galois field mathematics, Modulo-2 XOR logic &amp; CRC-32 polynomial division (Slide 3 &amp; 4).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3. G. SIDDHARTHA (Data Ingestion Lead): ASCII-to-binary stream mapping, file input parsing (.log/.txt) &amp; dashboard integration (Slide 4 &amp; 5).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4. P. HARSHAVARDHAN (Backend &amp; Telemetry): Flask REST API (/api/compute, /api/verify), session divisor &amp; live step telemetry (Slide 5 &amp; 6).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5. G. REVANTH (QA &amp; Verification Lead): Test cases (TC-01..TC-05), error-injection simulation, challenges &amp; summary (Slide 7 &amp; 8).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E5D4E"/>
                </a:solidFill>
                <a:latin typeface="Arial"/>
              </a:defRPr>
            </a:pPr>
            <a:r>
              <a:t>SLIDE 2 • PRODUCT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41E17"/>
                </a:solidFill>
                <a:latin typeface="Arial"/>
              </a:defRPr>
            </a:pPr>
            <a:r>
              <a:t>Introduction to the Product &amp; Software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65760"/>
            <a:ext cx="11887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E5D4E"/>
                </a:solidFill>
                <a:latin typeface="Arial"/>
              </a:defRPr>
            </a:pPr>
            <a:r>
              <a:t>SLIDE 02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321040"/>
              </a:tblGrid>
              <a:tr h="838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41E17"/>
                          </a:solidFill>
                          <a:latin typeface="Arial"/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F6E3C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41E17"/>
                          </a:solidFill>
                          <a:latin typeface="Arial"/>
                        </a:defRPr>
                      </a:pPr>
                      <a:r>
                        <a:t>What is Implemented in Product 8</a:t>
                      </a:r>
                    </a:p>
                  </a:txBody>
                  <a:tcPr>
                    <a:solidFill>
                      <a:srgbClr val="F6E3C8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Problem Requirement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Detects bit-level telemetry mutations, transmission noise, and log tampering in real-time industrial SCADA systems. CRC is required because additive checksums fail on bit swaps and burst noise.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Implementation Plan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1. User Input (Text/File) -&gt; 2. ASCII-to-Binary Conversion -&gt; 3. Append 32 Zeros -&gt; 4. Handwritten Modulo-2 Division (xordiv) -&gt; 5. 32-bit CRC Generated -&gt; 6. Codeword Re-division at Receiver -&gt; 7. Syndrome Zero Check.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Software &amp; Stack Used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Backend: Python 3, Flask REST API, Flask-CORS. Frontend: Vanilla HTML5, CSS3 (Warm Monotone Single-Viewport), JavaScript Fetch API. Tools: VS Code, Git, Chrome.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Input / Test Data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Supports direct binary streams, raw log text messages, and full industrial .log / .txt files (10 pre-built demo reports provided in Downloads).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Final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Calculated 32-bit CRC, Hex digest (0x4964A71B), complete bitwise step-by-step audit trail, and instant binary ACCEPT (0^32) or REJECT chip.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E5D4E"/>
                </a:solidFill>
                <a:latin typeface="Arial"/>
              </a:defRPr>
            </a:pPr>
            <a:r>
              <a:t>SLIDE 3 • CRC MATHEMATICS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41E17"/>
                </a:solidFill>
                <a:latin typeface="Arial"/>
              </a:defRPr>
            </a:pPr>
            <a:r>
              <a:t>Operating Principle of CRC: Mathematical Foundations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65760"/>
            <a:ext cx="11887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E5D4E"/>
                </a:solidFill>
                <a:latin typeface="Arial"/>
              </a:defRPr>
            </a:pPr>
            <a:r>
              <a:t>SLIDE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474720" cy="5029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408176"/>
            <a:ext cx="3182112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E5D4E"/>
                </a:solidFill>
                <a:latin typeface="Arial"/>
              </a:defRPr>
            </a:pPr>
            <a:r>
              <a:t>POLYNOMIAL MAPPING</a:t>
            </a:r>
          </a:p>
          <a:p>
            <a:pPr>
              <a:spcAft>
                <a:spcPts val="500"/>
              </a:spcAft>
              <a:defRPr sz="1350" b="1">
                <a:solidFill>
                  <a:srgbClr val="241E17"/>
                </a:solidFill>
                <a:latin typeface="Arial"/>
              </a:defRPr>
            </a:pPr>
            <a:r>
              <a:t>1. Polynomial Mapping &amp; GF(2)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Bitstream is treated as polynomial coefficients over Galois Field GF(2).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Example: 'A' = 01000001₂ -&gt; P(x) = x⁶ + 1.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Arithmetic Rule: Addition and subtraction are identical to bitwise XOR (⊕).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Zero Carry/Borrow: Enables line-rate single-cycle hardware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474720" cy="5029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1408176"/>
            <a:ext cx="3182112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E5D4E"/>
                </a:solidFill>
                <a:latin typeface="Arial"/>
              </a:defRPr>
            </a:pPr>
            <a:r>
              <a:t>DIVISION MECHANICS</a:t>
            </a:r>
          </a:p>
          <a:p>
            <a:pPr>
              <a:spcAft>
                <a:spcPts val="500"/>
              </a:spcAft>
              <a:defRPr sz="1350" b="1">
                <a:solidFill>
                  <a:srgbClr val="241E17"/>
                </a:solidFill>
                <a:latin typeface="Arial"/>
              </a:defRPr>
            </a:pPr>
            <a:r>
              <a:t>2. Modulo-2 Division &amp; 32-Zero Padding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Sender appends 32 zeros to data: M(x) · x³².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Long division performed with 33-bit Generator G(x).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If current bit is 1, XOR with divisor; if 0, shift 1 bit right.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M(x) · x³² = Q(x)·G(x) ⊕ R(x). Remainder R(x) is the 32-bit CRC.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280160"/>
            <a:ext cx="3474720" cy="5029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4" y="1408176"/>
            <a:ext cx="3182112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E5D4E"/>
                </a:solidFill>
                <a:latin typeface="Arial"/>
              </a:defRPr>
            </a:pPr>
            <a:r>
              <a:t>SYNDROME INVARIANT</a:t>
            </a:r>
          </a:p>
          <a:p>
            <a:pPr>
              <a:spcAft>
                <a:spcPts val="500"/>
              </a:spcAft>
              <a:defRPr sz="1350" b="1">
                <a:solidFill>
                  <a:srgbClr val="241E17"/>
                </a:solidFill>
                <a:latin typeface="Arial"/>
              </a:defRPr>
            </a:pPr>
            <a:r>
              <a:t>3. Codeword &amp; Receiver Syndrome Proof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Codeword Transmitted: T(x) = M(x) · x³² ⊕ R(x).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Algebraic Invariant: T(x) = Q(x)·G(x) ⊕ R(x) ⊕ R(x) = Q(x)·G(x).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Receiver Division: T'(x) mod G(x) = R'(x).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Decision Rule: If R'(x) == 0³² -&gt; ACCEPT (No Error); else REJECT.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E5D4E"/>
                </a:solidFill>
                <a:latin typeface="Arial"/>
              </a:defRPr>
            </a:pPr>
            <a:r>
              <a:t>SLIDE 4 • PYTHON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41E17"/>
                </a:solidFill>
                <a:latin typeface="Arial"/>
              </a:defRPr>
            </a:pPr>
            <a:r>
              <a:t>Python Implementation of CRC (crc_checker.py)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65760"/>
            <a:ext cx="11887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E5D4E"/>
                </a:solidFill>
                <a:latin typeface="Arial"/>
              </a:defRPr>
            </a:pPr>
            <a:r>
              <a:t>SLIDE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669280" cy="5029200"/>
          </a:xfrm>
          <a:prstGeom prst="roundRect">
            <a:avLst/>
          </a:prstGeom>
          <a:solidFill>
            <a:srgbClr val="F5ECE0"/>
          </a:solidFill>
          <a:ln w="13970">
            <a:solidFill>
              <a:srgbClr val="E6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408176"/>
            <a:ext cx="5376672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E5D4E"/>
                </a:solidFill>
                <a:latin typeface="Arial"/>
              </a:defRPr>
            </a:pPr>
            <a:r>
              <a:t>HANDWRITTEN PYTHON LOGIC</a:t>
            </a:r>
          </a:p>
          <a:p>
            <a:pPr>
              <a:spcAft>
                <a:spcPts val="500"/>
              </a:spcAft>
              <a:defRPr sz="1350" b="1">
                <a:solidFill>
                  <a:srgbClr val="241E17"/>
                </a:solidFill>
                <a:latin typeface="Arial"/>
              </a:defRPr>
            </a:pPr>
            <a:r>
              <a:t>Core Algorithmic Functions (No Black-Box / No zlib)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def ascii2binary(text):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    return ''.join(f'{ord(c):08b}' for c in text)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def xordiv(dividend, divisor):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    d, m = list(dividend), len(divisor)  # 33 bits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    for i in range(len(d) - m + 1):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        if d[i] == '1':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            for j in range(m):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                d[i+j] = '1' if d[i+j] != divisor[j] else '0'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    return ''.join(d[-(m-1):])  # Returns last 32 bits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def compute_crc(text):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    return xordiv(ascii2binary(text) + '0'*32, get_divisor())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def verify(text, received_crc):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    return xordiv(ascii2binary(text) + received_crc, get_divisor()) == '0'*32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0" y="1280160"/>
          <a:ext cx="4846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474720"/>
              </a:tblGrid>
              <a:tr h="5715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41E17"/>
                          </a:solidFill>
                          <a:latin typeface="Arial"/>
                        </a:defRPr>
                      </a:pPr>
                      <a:r>
                        <a:t>Input Type</a:t>
                      </a:r>
                    </a:p>
                  </a:txBody>
                  <a:tcPr>
                    <a:solidFill>
                      <a:srgbClr val="F6E3C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41E17"/>
                          </a:solidFill>
                          <a:latin typeface="Arial"/>
                        </a:defRPr>
                      </a:pPr>
                      <a:r>
                        <a:t>Processing Flow in Code</a:t>
                      </a:r>
                    </a:p>
                  </a:txBody>
                  <a:tcPr>
                    <a:solidFill>
                      <a:srgbClr val="F6E3C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Binary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Binary String -&gt; Direct Length Validation -&gt; xordiv() -&gt; 32-bit CRC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Text Input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Text String -&gt; ascii2binary() (8-bit ASCII) -&gt; Append 32 Zeros -&gt; xordiv() -&gt; CRC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File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File Upload -&gt; FileReader (JS) -&gt; utf-8 text -&gt; ascii2binary() -&gt; xordiv() -&gt; CRC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0" y="3749039"/>
            <a:ext cx="4846320" cy="2560320"/>
          </a:xfrm>
          <a:prstGeom prst="roundRect">
            <a:avLst/>
          </a:prstGeom>
          <a:solidFill>
            <a:srgbClr val="EFE5D5"/>
          </a:solidFill>
          <a:ln w="13970">
            <a:solidFill>
              <a:srgbClr val="E3C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9984" y="3877055"/>
            <a:ext cx="4553712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E5D4E"/>
                </a:solidFill>
                <a:latin typeface="Arial"/>
              </a:defRPr>
            </a:pPr>
            <a:r>
              <a:t>FUNCTION SPECIFICATION</a:t>
            </a:r>
          </a:p>
          <a:p>
            <a:pPr>
              <a:spcAft>
                <a:spcPts val="500"/>
              </a:spcAft>
              <a:defRPr sz="1350" b="1">
                <a:solidFill>
                  <a:srgbClr val="241E17"/>
                </a:solidFill>
                <a:latin typeface="Arial"/>
              </a:defRPr>
            </a:pPr>
            <a:r>
              <a:t>Function Interface &amp; Data Flow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Input Passed: UTF-8 log message string or file buffer.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Processing: Bit-by-bit Modulo-2 long division against session divisor.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Output Returned: 32-bit CRC string, Hex checksum, intermediate steps.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Invariant: Both compute_crc() and verify() call the identical get_divisor().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E5D4E"/>
                </a:solidFill>
                <a:latin typeface="Arial"/>
              </a:defRPr>
            </a:pPr>
            <a:r>
              <a:t>SLIDE 5 • DASHBOARD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41E17"/>
                </a:solidFill>
                <a:latin typeface="Arial"/>
              </a:defRPr>
            </a:pPr>
            <a:r>
              <a:t>Dashboard &amp; Application Details (User Perspective)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65760"/>
            <a:ext cx="11887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E5D4E"/>
                </a:solidFill>
                <a:latin typeface="Arial"/>
              </a:defRPr>
            </a:pPr>
            <a:r>
              <a:t>SLIDE 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6984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412480"/>
              </a:tblGrid>
              <a:tr h="53035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41E17"/>
                          </a:solidFill>
                          <a:latin typeface="Arial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F6E3C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41E17"/>
                          </a:solidFill>
                          <a:latin typeface="Arial"/>
                        </a:defRPr>
                      </a:pPr>
                      <a:r>
                        <a:t>System Details &amp; Implementation</a:t>
                      </a:r>
                    </a:p>
                  </a:txBody>
                  <a:tcPr>
                    <a:solidFill>
                      <a:srgbClr val="F6E3C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Software Used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Flask 2.3+ REST backend (Port 5000), Vanilla JS frontend, Modern HTML5/CSS3 with Warm Monotone palette.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Intended Users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Industrial plant operators, SCADA instrumentation engineers, edge gateway monitors, QA compliance auditors.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Dashboard Inputs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Original log textarea, file upload (.txt/.log), random telemetry generator, received log textarea, received CRC input.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Dashboard Outputs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Calculated 32-bit CRC, Hex digest, step-by-step binary/padding/remainder calculations, ACCEPT/REJECT status badge.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114800"/>
            <a:ext cx="10698480" cy="2194560"/>
          </a:xfrm>
          <a:prstGeom prst="roundRect">
            <a:avLst/>
          </a:prstGeom>
          <a:solidFill>
            <a:srgbClr val="EFE5D5"/>
          </a:solidFill>
          <a:ln w="13970">
            <a:solidFill>
              <a:srgbClr val="E3C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242816"/>
            <a:ext cx="1040587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E5D4E"/>
                </a:solidFill>
                <a:latin typeface="Arial"/>
              </a:defRPr>
            </a:pPr>
            <a:r>
              <a:t>DASHBOARD-TO-CODE-TO-DASHBOARD PIPELINE</a:t>
            </a:r>
          </a:p>
          <a:p>
            <a:pPr>
              <a:spcAft>
                <a:spcPts val="500"/>
              </a:spcAft>
              <a:defRPr sz="1350" b="1">
                <a:solidFill>
                  <a:srgbClr val="241E17"/>
                </a:solidFill>
                <a:latin typeface="Arial"/>
              </a:defRPr>
            </a:pPr>
            <a:r>
              <a:t>Complete End-to-End System Execution Flow (Guideline Flowchart)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User Input (Text/File Upload) ➔ Dashboard State ➔ POST /api/compute (Fetch API) ➔ ascii2binary() ➔ xordiv() ➔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➔ Return CRC &amp; Steps JSON ➔ Live Dashboard Telemetry Rendering (Steps 1 to 5) ➔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➔ Receiver Re-ingestion ➔ POST /api/verify ➔ Codeword Remainder Division ➔ Result Chip [✓ ACCEPT / ✗ REJECT]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E5D4E"/>
                </a:solidFill>
                <a:latin typeface="Arial"/>
              </a:defRPr>
            </a:pPr>
            <a:r>
              <a:t>SLIDE 6 • TESTING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41E17"/>
                </a:solidFill>
                <a:latin typeface="Arial"/>
              </a:defRPr>
            </a:pPr>
            <a:r>
              <a:t>Comprehensive Testing &amp; Test Cases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65760"/>
            <a:ext cx="11887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E5D4E"/>
                </a:solidFill>
                <a:latin typeface="Arial"/>
              </a:defRPr>
            </a:pPr>
            <a:r>
              <a:t>SLIDE 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926080"/>
                <a:gridCol w="1828800"/>
                <a:gridCol w="2194560"/>
                <a:gridCol w="2011680"/>
                <a:gridCol w="82296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41E17"/>
                          </a:solidFill>
                          <a:latin typeface="Arial"/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F6E3C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41E17"/>
                          </a:solidFill>
                          <a:latin typeface="Arial"/>
                        </a:defRPr>
                      </a:pPr>
                      <a:r>
                        <a:t>Input Data</a:t>
                      </a:r>
                    </a:p>
                  </a:txBody>
                  <a:tcPr>
                    <a:solidFill>
                      <a:srgbClr val="F6E3C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41E17"/>
                          </a:solidFill>
                          <a:latin typeface="Arial"/>
                        </a:defRPr>
                      </a:pPr>
                      <a:r>
                        <a:t>Operation</a:t>
                      </a:r>
                    </a:p>
                  </a:txBody>
                  <a:tcPr>
                    <a:solidFill>
                      <a:srgbClr val="F6E3C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41E17"/>
                          </a:solidFill>
                          <a:latin typeface="Arial"/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F6E3C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41E17"/>
                          </a:solidFill>
                          <a:latin typeface="Arial"/>
                        </a:defRPr>
                      </a:pPr>
                      <a:r>
                        <a:t>Actual Result</a:t>
                      </a:r>
                    </a:p>
                  </a:txBody>
                  <a:tcPr>
                    <a:solidFill>
                      <a:srgbClr val="F6E3C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41E17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6E3C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Binary: 101100101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CRC-32 Modulo-2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32-bit CRC generated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Correct CRC calculated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Text: [TURBINE_01] RPM:3450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CRC Computation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32-bit CRC + Hex returned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0x367B4724 displayed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File: Report_01_Turbine.log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File Upload CRC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Complete file CRC computed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Steps 1-5 displayed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Modified: RPM:3450 -&gt; RPM:3451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Error Detection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Non-zero Remainder -&gt; REJECT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Remainder != 0 (REJECT)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TC-05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Unmodified: Valid Log + CRC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Verification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Remainder = 0^32 -&gt; ACCEPT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Remainder = 0 (ACCEPT)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754880"/>
            <a:ext cx="10698480" cy="1554480"/>
          </a:xfrm>
          <a:prstGeom prst="roundRect">
            <a:avLst/>
          </a:prstGeom>
          <a:solidFill>
            <a:srgbClr val="EDF5E8"/>
          </a:solidFill>
          <a:ln w="13970">
            <a:solidFill>
              <a:srgbClr val="B5D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882896"/>
            <a:ext cx="1040587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E5D4E"/>
                </a:solidFill>
                <a:latin typeface="Arial"/>
              </a:defRPr>
            </a:pPr>
            <a:r>
              <a:t>TEST COVERAGE SUMMARY</a:t>
            </a:r>
          </a:p>
          <a:p>
            <a:pPr>
              <a:spcAft>
                <a:spcPts val="500"/>
              </a:spcAft>
              <a:defRPr sz="1350" b="1">
                <a:solidFill>
                  <a:srgbClr val="275222"/>
                </a:solidFill>
                <a:latin typeface="Arial"/>
              </a:defRPr>
            </a:pPr>
            <a:r>
              <a:t>Mandatory Test Requirements Verified (Guideline Section 6)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✓ Valid binary bitstream input tested  |  ✓ UTF-8 string telemetry tested  |  ✓ Real industrial .log/.txt files tested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✓ Single-bit flipped error detected (REJECT)  |  ✓ Unmodified original log verified authentic (ACCEPT)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E5D4E"/>
                </a:solidFill>
                <a:latin typeface="Arial"/>
              </a:defRPr>
            </a:pPr>
            <a:r>
              <a:t>SLIDE 7 • ENGINEERING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41E17"/>
                </a:solidFill>
                <a:latin typeface="Arial"/>
              </a:defRPr>
            </a:pPr>
            <a:r>
              <a:t>Errors &amp; Engineering Challenges Faced (Problem -&gt; Reason -&gt; Solution -&gt; Learning)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65760"/>
            <a:ext cx="11887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E5D4E"/>
                </a:solidFill>
                <a:latin typeface="Arial"/>
              </a:defRPr>
            </a:pPr>
            <a:r>
              <a:t>SLIDE 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651760"/>
                <a:gridCol w="3291840"/>
                <a:gridCol w="2743200"/>
              </a:tblGrid>
              <a:tr h="10058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41E17"/>
                          </a:solidFill>
                          <a:latin typeface="Arial"/>
                        </a:defRPr>
                      </a:pPr>
                      <a:r>
                        <a:t>Problem / Challenge</a:t>
                      </a:r>
                    </a:p>
                  </a:txBody>
                  <a:tcPr>
                    <a:solidFill>
                      <a:srgbClr val="F6E3C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41E17"/>
                          </a:solidFill>
                          <a:latin typeface="Arial"/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F6E3C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41E17"/>
                          </a:solidFill>
                          <a:latin typeface="Arial"/>
                        </a:defRPr>
                      </a:pPr>
                      <a:r>
                        <a:t>Engineering Solution</a:t>
                      </a:r>
                    </a:p>
                  </a:txBody>
                  <a:tcPr>
                    <a:solidFill>
                      <a:srgbClr val="F6E3C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41E17"/>
                          </a:solidFill>
                          <a:latin typeface="Arial"/>
                        </a:defRPr>
                      </a:pPr>
                      <a:r>
                        <a:t>Learning Outcome</a:t>
                      </a:r>
                    </a:p>
                  </a:txBody>
                  <a:tcPr>
                    <a:solidFill>
                      <a:srgbClr val="F6E3C8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Polynomial Bit 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Using 32-bit divisor for 32-bit CRC caused degree underflow.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Generated 33-bit divisor with MSB=1 and LSB=1 (degree 32).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Understood that degree-n polynomial requires n+1 coefficients.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Modulo-2 Long Division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Integer division propagates carries, producing arithmetic quotient.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Built handwritten bitwise XOR loop shifting without carries/borrows.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Mastered Galois Field GF(2) long division algorithms.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Divisor Synchronization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Sender &amp; receiver generated different random polynomials.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Created singleton get_divisor() fixed for entire session in memory.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Learned session-level state management and protocol parity.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Single-Screen Layout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Long step outputs created ugly outer window scrolling.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Engineered 2-row CSS grid with internal 6px custom scrollbars.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E5D4E"/>
                          </a:solidFill>
                          <a:latin typeface="Arial"/>
                        </a:defRPr>
                      </a:pPr>
                      <a:r>
                        <a:t>Mastered responsive viewport budgeting without layout thrashing.</a:t>
                      </a:r>
                    </a:p>
                  </a:txBody>
                  <a:tcPr>
                    <a:solidFill>
                      <a:srgbClr val="F3E6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E5D4E"/>
                </a:solidFill>
                <a:latin typeface="Arial"/>
              </a:defRPr>
            </a:pPr>
            <a:r>
              <a:t>SLIDE 8 • FEATURES &amp; DEMO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41E17"/>
                </a:solidFill>
                <a:latin typeface="Arial"/>
              </a:defRPr>
            </a:pPr>
            <a:r>
              <a:t>Additional Features &amp; Live Demonstration Sequence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65760"/>
            <a:ext cx="11887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E5D4E"/>
                </a:solidFill>
                <a:latin typeface="Arial"/>
              </a:defRPr>
            </a:pPr>
            <a:r>
              <a:t>SLIDE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3931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408176"/>
            <a:ext cx="5010912" cy="367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E5D4E"/>
                </a:solidFill>
                <a:latin typeface="Arial"/>
              </a:defRPr>
            </a:pPr>
            <a:r>
              <a:t>UNIQUE SYSTEM HIGHLIGHTS</a:t>
            </a:r>
          </a:p>
          <a:p>
            <a:pPr>
              <a:spcAft>
                <a:spcPts val="500"/>
              </a:spcAft>
              <a:defRPr sz="1350" b="1">
                <a:solidFill>
                  <a:srgbClr val="241E17"/>
                </a:solidFill>
                <a:latin typeface="Arial"/>
              </a:defRPr>
            </a:pPr>
            <a:r>
              <a:t>Working Additional Features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Session-Fixed 33-Bit Generator: Singleton generator shared across all endpoints via GET /api/divisor.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10-Report Demo Pack: Pre-populated industrial test reports (.log/.txt) in Downloads for instant live testing.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Step-by-Step Telemetry Audit: Full visibility into ASCII binary, 32-zero padding, divisor, remainder, and hex.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Dual-Row Single Viewport UI: No page overflow; internal 6px subtle scrollbars; instant random log generator.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5303520" cy="3931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408176"/>
            <a:ext cx="5010912" cy="367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E5D4E"/>
                </a:solidFill>
                <a:latin typeface="Arial"/>
              </a:defRPr>
            </a:pPr>
            <a:r>
              <a:t>DEMONSTRATION PLAYBOOK</a:t>
            </a:r>
          </a:p>
          <a:p>
            <a:pPr>
              <a:spcAft>
                <a:spcPts val="500"/>
              </a:spcAft>
              <a:defRPr sz="1350" b="1">
                <a:solidFill>
                  <a:srgbClr val="241E17"/>
                </a:solidFill>
                <a:latin typeface="Arial"/>
              </a:defRPr>
            </a:pPr>
            <a:r>
              <a:t>Live Demonstration Sequence (Guideline Section 12)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Step 1 (PPT): Explain Problem, Math &amp; Architecture (Slides 1-4).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Step 2 (Dashboard): Upload Report_01_Turbine.log &amp; click Compute CRC.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Step 3 (Code): Trace ascii2binary() and xordiv() in crc_checker.py.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Step 4 (Dashboard): Demonstrate Accept (0^32) &amp; Reject (modify 1 character).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Step 5 (Summary): Conclude with integrity guarantees &amp; Viva defense.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10698480" cy="914400"/>
          </a:xfrm>
          <a:prstGeom prst="roundRect">
            <a:avLst/>
          </a:prstGeom>
          <a:solidFill>
            <a:srgbClr val="F6E3C8"/>
          </a:solidFill>
          <a:ln w="13970">
            <a:solidFill>
              <a:srgbClr val="E3C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522976"/>
            <a:ext cx="10405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E5D4E"/>
                </a:solidFill>
                <a:latin typeface="Arial"/>
              </a:defRPr>
            </a:pPr>
            <a:r>
              <a:t>THREE-WINDOW DEMONSTRATION READY</a:t>
            </a:r>
          </a:p>
          <a:p/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Live Demo Windows Prepared: 1. PowerPoint Presentation  |  2. Dashboard (http://localhost:5000)  |  3. Python Code (VS Code)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E5D4E"/>
                </a:solidFill>
                <a:latin typeface="Arial"/>
              </a:defRPr>
            </a:pPr>
            <a:r>
              <a:t>SLIDE 9 • VIVA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41E17"/>
                </a:solidFill>
                <a:latin typeface="Arial"/>
              </a:defRPr>
            </a:pPr>
            <a:r>
              <a:t>Viva Voce &amp; Technical Defense Preparation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65760"/>
            <a:ext cx="11887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E5D4E"/>
                </a:solidFill>
                <a:latin typeface="Arial"/>
              </a:defRPr>
            </a:pPr>
            <a:r>
              <a:t>SLIDE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408176"/>
            <a:ext cx="4919472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E5D4E"/>
                </a:solidFill>
                <a:latin typeface="Arial"/>
              </a:defRPr>
            </a:pPr>
            <a:r>
              <a:t>MATHEMATICAL VIVA QUESTIONS</a:t>
            </a:r>
          </a:p>
          <a:p>
            <a:pPr>
              <a:spcAft>
                <a:spcPts val="500"/>
              </a:spcAft>
              <a:defRPr sz="1350" b="1">
                <a:solidFill>
                  <a:srgbClr val="241E17"/>
                </a:solidFill>
                <a:latin typeface="Arial"/>
              </a:defRPr>
            </a:pPr>
            <a:r>
              <a:t>Key Mathematical &amp; Concept Questions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Q1: What is CRC &amp; why is it used?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-&gt; Cyclic Redundancy Check; detects burst errors in bitstreams using polynomial long division over GF(2).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Q2: Why 33-bit divisor for 32-bit CRC?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-&gt; A degree-32 polynomial has 33 coefficients. Dividing by degree-32 strictly leaves a remainder of degree &lt;= 31 (32 bits).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Q3: Why is XOR used instead of subtraction?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-&gt; In GF(2) arithmetic, addition and subtraction are identical to bitwise XOR with no carries or borrows.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Q4: Can CRC correct errors?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-&gt; CRC is primarily for error detection. In pure form it flags corruption; error correction requires FEC (e.g. Reed-Solomon/Hamming).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EFE5D5"/>
          </a:solidFill>
          <a:ln w="13970">
            <a:solidFill>
              <a:srgbClr val="E3C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408176"/>
            <a:ext cx="4919472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E5D4E"/>
                </a:solidFill>
                <a:latin typeface="Arial"/>
              </a:defRPr>
            </a:pPr>
            <a:r>
              <a:t>ENGINEERING VIVA QUESTIONS</a:t>
            </a:r>
          </a:p>
          <a:p>
            <a:pPr>
              <a:spcAft>
                <a:spcPts val="500"/>
              </a:spcAft>
              <a:defRPr sz="1350" b="1">
                <a:solidFill>
                  <a:srgbClr val="241E17"/>
                </a:solidFill>
                <a:latin typeface="Arial"/>
              </a:defRPr>
            </a:pPr>
            <a:r>
              <a:t>Implementation &amp; Verification Questions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Q5: How is text converted before CRC calculation?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-&gt; Each character is converted to its 8-bit ASCII binary representation via ascii2binary() and concatenated.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Q6: How does the receiver detect an error?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-&gt; Codeword T'(x) = Data + Received CRC is divided by G(x). If remainder is 0^32 -&gt; ACCEPT; else REJECT.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Q7: What happens if one bit is changed?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-&gt; The polynomial M'(x) differs from M(x), resulting in a non-zero syndrome remainder vector R'(x) != 0.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Q8: What error types are 100% detected?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-&gt; All single-bit errors, all double-bit errors, and all burst errors &lt;= 32 bits.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E5D4E"/>
                </a:solidFill>
                <a:latin typeface="Arial"/>
              </a:defRPr>
            </a:pPr>
            <a:r>
              <a:t>SLIDE 10 • FINAL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41E17"/>
                </a:solidFill>
                <a:latin typeface="Arial"/>
              </a:defRPr>
            </a:pPr>
            <a:r>
              <a:t>Product Summary &amp; Key Learning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65760"/>
            <a:ext cx="11887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E5D4E"/>
                </a:solidFill>
                <a:latin typeface="Arial"/>
              </a:defRPr>
            </a:pPr>
            <a:r>
              <a:t>SLIDE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408176"/>
            <a:ext cx="4919472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E5D4E"/>
                </a:solidFill>
                <a:latin typeface="Arial"/>
              </a:defRPr>
            </a:pPr>
            <a:r>
              <a:t>SYSTEM SPECIFICATIONS</a:t>
            </a:r>
          </a:p>
          <a:p>
            <a:pPr>
              <a:spcAft>
                <a:spcPts val="500"/>
              </a:spcAft>
              <a:defRPr sz="1350" b="1">
                <a:solidFill>
                  <a:srgbClr val="241E17"/>
                </a:solidFill>
                <a:latin typeface="Arial"/>
              </a:defRPr>
            </a:pPr>
            <a:r>
              <a:t>Product Summary &amp; Deliverables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Developed Product: Industrial Machine Log Integrity Checker (Product 8).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Supported Input Types: Raw binary bitstreams, UTF-8 text strings, and industrial .log / .txt telemetry files.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Supported CRC Algorithm: Pure Modulo-2 XOR CRC-32 with session-fixed 33-bit generator polynomial.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Error Detection Capabilities: 100% single bit, 100% double bit, 100% bursts &lt;= 32 bits, 99.99999997% longer bursts.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• Software Stack: Python 3, Flask REST API, Vanilla HTML5/CSS3/JS, Warm Monotone Single-Screen UI.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EDF5E8"/>
          </a:solidFill>
          <a:ln w="13970">
            <a:solidFill>
              <a:srgbClr val="B5D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408176"/>
            <a:ext cx="4919472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E5D4E"/>
                </a:solidFill>
                <a:latin typeface="Arial"/>
              </a:defRPr>
            </a:pPr>
            <a:r>
              <a:t>ACADEMIC &amp; PRACTICAL LEARNING</a:t>
            </a:r>
          </a:p>
          <a:p>
            <a:pPr>
              <a:spcAft>
                <a:spcPts val="500"/>
              </a:spcAft>
              <a:defRPr sz="1350" b="1">
                <a:solidFill>
                  <a:srgbClr val="275222"/>
                </a:solidFill>
                <a:latin typeface="Arial"/>
              </a:defRPr>
            </a:pPr>
            <a:r>
              <a:t>Key Learning Outcomes (OS &amp; Computer Networks)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1. Protocol Parity: Implemented synchronized sender-receiver telemetry pipelines using shared algebraic invariants.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2. Bitwise Computing: Built low-level bit shifting and XOR operations without relying on opaque external libraries (zlib).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3. Network Error Detection: Understood why polynomial division surpasses additive checksums in noisy transmission channels.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4. Full-Stack Integration: Integrated Flask REST endpoints with real-time UI telemetry and FileReader APIs.</a:t>
            </a:r>
          </a:p>
          <a:p>
            <a:pPr>
              <a:spcAft>
                <a:spcPts val="300"/>
              </a:spcAft>
              <a:defRPr sz="1050">
                <a:solidFill>
                  <a:srgbClr val="6E5D4E"/>
                </a:solidFill>
                <a:latin typeface="Arial"/>
              </a:defRPr>
            </a:pPr>
            <a:r>
              <a:t>5. Teamwork &amp; Collaboration: Successfully divided roles across architecture, algorithms, UI, backend, and QA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