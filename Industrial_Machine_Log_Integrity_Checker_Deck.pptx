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INDUSTRIAL TELEMETRY INTEGRITY ENGINE • PRODUCT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400" b="1">
                <a:solidFill>
                  <a:srgbClr val="FFFFFF"/>
                </a:solidFill>
              </a:defRPr>
            </a:pPr>
            <a:r>
              <a:t>Industrial Machine Log</a:t>
            </a:r>
            <a:br/>
            <a:r>
              <a:t>Integrity Checker</a:t>
            </a:r>
          </a:p>
          <a:p>
            <a:pPr>
              <a:defRPr sz="1800">
                <a:solidFill>
                  <a:srgbClr val="94A3B8"/>
                </a:solidFill>
              </a:defRPr>
            </a:pPr>
            <a:r>
              <a:t>Zero-Latency Modulo-2 Polynomial Verification Engine for Mission-Critical SCADA Systems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114800"/>
            <a:ext cx="2468880" cy="20116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MATHEMATICS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IEEE 802.3 CRC-32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Handwritten GF(2) XOR Long Division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4114800"/>
            <a:ext cx="2468880" cy="20116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ARCHITECTURE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Session-Fixed Divisor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33-bit Generator Polynomial Invariant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114800"/>
            <a:ext cx="2468880" cy="20116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ENGINEERING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Zero Black-Box Deps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Pure Bitstream Math (No zlib)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4114800"/>
            <a:ext cx="2468880" cy="20116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INTERFACE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AEGIS Observability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Dual-Row Single Viewport Telemetry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Industrial Telemetry Fault 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411480"/>
            <a:ext cx="1188720" cy="365760"/>
          </a:xfrm>
          <a:prstGeom prst="roundRect">
            <a:avLst/>
          </a:prstGeom>
          <a:solidFill>
            <a:srgbClr val="162032"/>
          </a:solidFill>
          <a:ln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1148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SLIDE 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2D0F14"/>
          </a:solidFill>
          <a:ln w="1524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VULNERABILITY MATRIX</a:t>
            </a:r>
          </a:p>
          <a:p>
            <a:pPr>
              <a:spcAft>
                <a:spcPts val="800"/>
              </a:spcAft>
              <a:defRPr sz="1500" b="1">
                <a:solidFill>
                  <a:srgbClr val="F87171"/>
                </a:solidFill>
              </a:defRPr>
            </a:pPr>
            <a:r>
              <a:t>The Threat: Silent Bit Inversion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High-EMI Industrial Environments: Heavy motors, arc welding, and power line sags flip bits in transit.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Sub-Perceptual Data Drift: Changing RPM 3450 -&gt; 3451 or Temp 82.4C -&gt; 92.4C looks valid to parsers but corrupts automated control loops.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Traditional Checksum Blindness: Simple summing checksums fail when compensating bit errors occur.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Man-in-the-Middle Forgery: Plaintext logs lack mathematical immutability proofs.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0A2819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ENGINEERING DEFENSE</a:t>
            </a:r>
          </a:p>
          <a:p>
            <a:pPr>
              <a:spcAft>
                <a:spcPts val="800"/>
              </a:spcAft>
              <a:defRPr sz="1500" b="1">
                <a:solidFill>
                  <a:srgbClr val="4ADE80"/>
                </a:solidFill>
              </a:defRPr>
            </a:pPr>
            <a:r>
              <a:t>The Solution: Bitstream Polynomial Proof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100% Burst Error Elimination: Catches all contiguous bit corruptions up to 32 bits with mathematical certainty.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Zero-Carrying Arithmetic: Operates strictly in GF(2) using binary XOR without CPU borrow overhead.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Transparent Step Observability: Exposes full bit streams: ASCII conversion -&gt; zero-padding -&gt; remainder reduction.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Session Invariance: Client and server share a fixed 33-bit divisor across the telemetry lifecycle.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POLYNOMIAL ALGEBRA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Mathematical Foundation: Galois Field GF(2)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411480"/>
            <a:ext cx="1188720" cy="365760"/>
          </a:xfrm>
          <a:prstGeom prst="roundRect">
            <a:avLst/>
          </a:prstGeom>
          <a:solidFill>
            <a:srgbClr val="162032"/>
          </a:solidFill>
          <a:ln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1148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SLIDE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FIELD PROPERTIES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Modulo-2 XOR Laws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XOR Addition &amp; Subtraction: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0 ⊕ 0 = 0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0 ⊕ 1 = 1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1 ⊕ 0 = 1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1 ⊕ 1 = 0 (No Carry!)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Key Theorem: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A ⊕ B = A - B in GF(2)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All division steps are executed purely as bitwise XOR.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7548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544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GENERATOR SPECS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33-Bit Divisor G(x)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Degree: k = 32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Coefficients: k + 1 = 33 bits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Boundary Rule: Bits 0 and 32 are strictly '1'.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Example Polynomial: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100001010100110001101111101000111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Why 33 bits?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Dividing by degree 32 guarantees a remainder of degree &lt;= 31 (exactly 32 bits).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0A2819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544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MATHEMATICAL PROOF</a:t>
            </a:r>
          </a:p>
          <a:p>
            <a:pPr>
              <a:spcAft>
                <a:spcPts val="800"/>
              </a:spcAft>
              <a:defRPr sz="1500" b="1">
                <a:solidFill>
                  <a:srgbClr val="4ADE80"/>
                </a:solidFill>
              </a:defRPr>
            </a:pPr>
            <a:r>
              <a:t>The Zero-Remainder Invariant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Codeword Construction: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T(x) = M(x)·x^32 ⊕ R(x)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Algebraic Substitution: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M(x)·x^32 = Q(x)·G(x) ⊕ R(x)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T(x) = Q(x)·G(x) ⊕ R(x) ⊕ R(x)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T(x) = Q(x)·G(x) ⊕ 0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Proof: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T(x) mod G(x) ≡ 0 (32 zeros) iff data is 100% unaltered.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End-to-End Telemetry Codeword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411480"/>
            <a:ext cx="1188720" cy="365760"/>
          </a:xfrm>
          <a:prstGeom prst="roundRect">
            <a:avLst/>
          </a:prstGeom>
          <a:solidFill>
            <a:srgbClr val="162032"/>
          </a:solidFill>
          <a:ln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1148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SLIDE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SENDER PIPELINE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Transmitter Stage (Compute CRC)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1. Raw ASCII Telemetry: Machine controller emits log string.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2. Binary Serialization: Maps each character to 8-bit ASCII bitstream (ord(c) -&gt; 08b).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3. 32-Bit Zero Augmentation: Appends 32 zeros: Padded = M·2^32.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4. Polynomial XOR Division: Divides Padded by 33-bit G(x) via xordiv().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5. Checksum Extraction: The 32-bit remainder R is the CRC checksum.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RECEIVER PIPELINE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Gateway Stage (Verify Integrity)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1. Codeword Assembly: Codeword T' = Received Bits + Received CRC.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2. Modulo-2 Division: Divides T' by the IDENTICAL 33-bit G(x).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3. Remainder Evaluation: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• Remainder == '0'*32 -&gt; ACCEPT ✓ (Zero bit errors)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• Remainder != '0'*32 -&gt; REJECT ✗ (Corruption detected)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4. Live Telemetry Update: Injects real-time step analysis to UI.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CODEBASE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Algorithmic Implementation: crc_checker.py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411480"/>
            <a:ext cx="1188720" cy="365760"/>
          </a:xfrm>
          <a:prstGeom prst="roundRect">
            <a:avLst/>
          </a:prstGeom>
          <a:solidFill>
            <a:srgbClr val="162032"/>
          </a:solidFill>
          <a:ln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1148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SLIDE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CORE DIVISION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Handwritten xordiv() Division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def xordiv(dividend, divisor):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d = list(dividend)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m = len(divisor) # 33 bits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for i in range(len(d) - m + 1):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    if d[i] == '1':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        for j in range(m):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            d[i+j] = '1' if d[i+j] != divisor[j] else '0'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return ''.join(d[-(m - 1):]) # 32 bits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✓ In-place array mutation without string allocations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✓ Slices strictly the last (m - 1) bits as remainder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SESSION INVARIANT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Session Divisor &amp; Verification Flow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GENERATOR = None # Session-level singleton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def get_divisor():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global GENERATOR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if GENERATOR is None: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    GENERATOR = generate_divisor()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return GENERATOR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def verify(text, received_crc):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codeword = ascii2binary(text) + received_crc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remainder = xordiv(codeword, get_divisor())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return remainder == '0' *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VIVA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Error Detection Power: CRC-32 vs Other Techniques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411480"/>
            <a:ext cx="1188720" cy="365760"/>
          </a:xfrm>
          <a:prstGeom prst="roundRect">
            <a:avLst/>
          </a:prstGeom>
          <a:solidFill>
            <a:srgbClr val="162032"/>
          </a:solidFill>
          <a:ln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1148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SLIDE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2D0F14"/>
          </a:solidFill>
          <a:ln w="1524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LEGACY SCHEME</a:t>
            </a:r>
          </a:p>
          <a:p>
            <a:pPr>
              <a:spcAft>
                <a:spcPts val="800"/>
              </a:spcAft>
              <a:defRPr sz="1500" b="1">
                <a:solidFill>
                  <a:srgbClr val="F87171"/>
                </a:solidFill>
              </a:defRPr>
            </a:pPr>
            <a:r>
              <a:t>Parity Check (1-bit)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Single-Bit Errors: 100% Detected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Double-Bit Errors: 0% (Fails)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Even Number Errors: Completely Blind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Burst Errors: Unusable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Industrial Rating: REJECTED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7548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544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BASIC CHECKSUM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Arithmetic Checksum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Arithmetic Summing: Word-by-word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Compensating Errors: Fails when opposite bits cancel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Burst Error Coverage: Weak (&lt; 50%)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Overhead: 16 to 32 bits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Industrial Rating: INSUFFICIENT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0A2819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544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CRC-32 ADVANTAGE</a:t>
            </a:r>
          </a:p>
          <a:p>
            <a:pPr>
              <a:spcAft>
                <a:spcPts val="800"/>
              </a:spcAft>
              <a:defRPr sz="1500" b="1">
                <a:solidFill>
                  <a:srgbClr val="4ADE80"/>
                </a:solidFill>
              </a:defRPr>
            </a:pPr>
            <a:r>
              <a:t>CRC-32 Modulo-2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Single-Bit Errors: 100%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Double-Bit Errors: 100%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Odd Number of Errors: 100%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Burst Errors &lt;= 32 bits: 100%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Bursts &gt; 32 bits: &gt; 99.99999997%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Industrial Rating: GOLD STANDARD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BACKEND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Flask REST Architecture &amp; Observability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411480"/>
            <a:ext cx="1188720" cy="365760"/>
          </a:xfrm>
          <a:prstGeom prst="roundRect">
            <a:avLst/>
          </a:prstGeom>
          <a:solidFill>
            <a:srgbClr val="162032"/>
          </a:solidFill>
          <a:ln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1148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SLIDE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COMPUTE ENDPOINT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POST /api/compute Contract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Request Body: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{"log": "[2026-09-14] TURBINE_01 RPM:3450"}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Response Payload (200 OK):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{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"crc": "01001001011001001010011100011011",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"divisor": "100001010100110001101111101000111",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"steps": {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"binary": "01011011...",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"padded": "01011011...00000000...",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"remainder": "0100100101100100...",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"hex": "4964A71B"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}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VERIFY ENDPOINT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POST /api/verify &amp; GET /api/divisor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POST /api/verify Contract: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{"log": "TURBINE_01...", "crc": "01001001..."}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Response Payload (200 OK):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{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"accepted": true,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"divisor": "100001010100110001101111101000111",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"steps": {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"codeword": "01011011...01001001...",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  "remainder": "00000000000000000000000000000000"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}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}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GET /api/divisor -&gt; {"divisor": "10000101..."}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FRONTEND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AEGIS-Inspired UI: 2-Row Viewport Cockpit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411480"/>
            <a:ext cx="1188720" cy="365760"/>
          </a:xfrm>
          <a:prstGeom prst="roundRect">
            <a:avLst/>
          </a:prstGeom>
          <a:solidFill>
            <a:srgbClr val="162032"/>
          </a:solidFill>
          <a:ln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1148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SLIDE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LAYOUT DISCIPLINE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Spatial Hierarchy &amp; Interactions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Fixed 56px Top Navbar: Clean typography with plain SVG Sun/Moon theme toggle (no distracting box borders).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ROW 1 (Inputs): Dual cards (Transmitter vs Receiver) with 110px textareas, FileReader upload (.txt/.log/.md), and live Random Generator.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ROW 2 (Process Steps): Scrollable live step breakdown with custom 6px thin scrollbars matching dark/light themes.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Zero Page Scroll: Strictly fits inside single viewport (calc(100vh - 56px)).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DESIGN SYSTEM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Visual Tokens &amp; Status Feedback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Light Mode: Warm off-white background (#f5f4f0), clean white surface cards (#ffffff), subtle borders (#e0ddd4).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Dark Mode: Deep background (#0f0f0f), dark surface cards (#1a1a1a), borders (#2a2a2a).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Compact Result Status Chip (~40px):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✓ ACCEPT — Message integrity verified (Green)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  ✗ REJECT — Corruption detected (Red)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Monospace Discipline: Monospace font strictly scoped to binary/hex bitstreams.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TEST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Empirical Validation &amp; Test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411480"/>
            <a:ext cx="1188720" cy="365760"/>
          </a:xfrm>
          <a:prstGeom prst="roundRect">
            <a:avLst/>
          </a:prstGeom>
          <a:solidFill>
            <a:srgbClr val="162032"/>
          </a:solidFill>
          <a:ln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1148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SLIDE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0A2819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BASELINE PASS</a:t>
            </a:r>
          </a:p>
          <a:p>
            <a:pPr>
              <a:spcAft>
                <a:spcPts val="800"/>
              </a:spcAft>
              <a:defRPr sz="1500" b="1">
                <a:solidFill>
                  <a:srgbClr val="4ADE80"/>
                </a:solidFill>
              </a:defRPr>
            </a:pPr>
            <a:r>
              <a:t>Test 1: Authentic Log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Original Telemetry: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TURBINE_01 RPM:3450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Division Remainder: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00000000000000000000000000000000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Status: ✓ ACCEPT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Zero bit errors detected in codeword.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754880"/>
          </a:xfrm>
          <a:prstGeom prst="roundRect">
            <a:avLst/>
          </a:prstGeom>
          <a:solidFill>
            <a:srgbClr val="2D0F14"/>
          </a:solidFill>
          <a:ln w="1524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544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TAMPER DETECTED</a:t>
            </a:r>
          </a:p>
          <a:p>
            <a:pPr>
              <a:spcAft>
                <a:spcPts val="800"/>
              </a:spcAft>
              <a:defRPr sz="1500" b="1">
                <a:solidFill>
                  <a:srgbClr val="F87171"/>
                </a:solidFill>
              </a:defRPr>
            </a:pPr>
            <a:r>
              <a:t>Test 2: 1-Bit Mutation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Received Telemetry: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TURBINE_01 RPM:3451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(1 character mutated)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Division Remainder: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01000100101001111100111011000000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Status: ✗ REJECT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Caught instant single bit change.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2D0F14"/>
          </a:solidFill>
          <a:ln w="1524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544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PACKET FORGERY</a:t>
            </a:r>
          </a:p>
          <a:p>
            <a:pPr>
              <a:spcAft>
                <a:spcPts val="800"/>
              </a:spcAft>
              <a:defRPr sz="1500" b="1">
                <a:solidFill>
                  <a:srgbClr val="F87171"/>
                </a:solidFill>
              </a:defRPr>
            </a:pPr>
            <a:r>
              <a:t>Test 3: Forged CRC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Received Telemetry: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TURBINE_01 RPM:3450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Corrupted CRC Checksum: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11111111011001...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Division Remainder: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10110110100110100110011001101101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Status: ✗ REJECT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Guards against forged packets.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VIVA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Summary &amp; Key Takeaways for Viva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411480"/>
            <a:ext cx="1188720" cy="365760"/>
          </a:xfrm>
          <a:prstGeom prst="roundRect">
            <a:avLst/>
          </a:prstGeom>
          <a:solidFill>
            <a:srgbClr val="162032"/>
          </a:solidFill>
          <a:ln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1148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SLIDE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243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MILESTONES COMPLETED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Core Engineering Achievements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✓ Handwritten GF(2) Mathematics: Zero black-box dependencies; XOR polynomial long division built from first principles.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✓ Session-Level Generator Invariant: Generates and preserves a 33-bit divisor across all client/server exchanges.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✓ Rich Observability Contract: Exposes bitstream conversion, zero-padding, XOR stages, and 32-bit remainders via REST APIs.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✓ Production-Ready Repository: Pushed to GitHub with complete clean separation between frontend and backend.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62032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94A3B8"/>
                </a:solidFill>
              </a:defRPr>
            </a:pPr>
            <a:r>
              <a:t>AUTHORITATIVE ANSWERS</a:t>
            </a:r>
          </a:p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Viva Rapid-Fire Cheatsheet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Q: Why Modulo-2? Addition and subtraction are bitwise XOR (no carries/borrows), making arithmetic fast, deterministic, and hardware-friendly.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Q: Why a 33-bit divisor for 32-bit CRC? Dividing by a degree-32 polynomial guarantees a remainder of degree &lt;= 31 (strictly 32 bits).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Q: Why zero remainder on verification? Codeword T(x) = M(x)·x^32 ⊕ R(x). Since R(x) is the remainder of M(x)·x^32 / G(x), adding R(x) cancels the remainder modulo G(x).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</a:defRPr>
            </a:pPr>
            <a:r>
              <a:t>• Repository: github.com/rogeralukka/OS-CN-Product-8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