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6" d="100"/>
          <a:sy n="106" d="100"/>
        </p:scale>
        <p:origin x="204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68845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project: a checker that detects whether a machine log was corrupted or tampered with in transit. The card on the right is the whole idea in one picture: one flipped bit turns a 0 into a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Industrial links are noisy. '8' and '9' differ by one bit, so one bit flip changes 82.4C to 92.4C. We need a cheap way to detect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top lane left to right, then the bottom lane. The receiver never needs the original log: it only needs the received log, the received CRC and the shared divisor.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proof examiners like. Key move: R XOR R = 0, so the codeword is an exact multiple of G(x).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first and last bits are always 1. That guarantees a real degree-32 polynomial with a constant term, which is what gives the burst-error guarantee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xordiv aloud: whenever the current leading bit is 1, XOR the divisor into the window. When the loop ends, the last 32 bits are the remainder.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honest about the limits: the guarantees listed on the CRC card hold for any divisor whose first and last bits are 1. Double-bit and odd-count guarantees are properties of specific polynomials.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steps object is what the frontend uses to fill in the Process Steps panels. Every value on this slide was produced by running the same xordiv logic.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Sketch of the final layout. The compact ACCEPT/REJECT chip sits under the received-side steps.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Case 2 flips one bit of one character. Case 3 leaves the log alone and corrupts the CRC. Both leave a non-zero remainder, so both are rejected.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6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78857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&amp; CN PROJECT  ·  PRODUCT 8  ·  GROUP VIII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798897"/>
            <a:ext cx="66751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 Machine</a:t>
            </a:r>
            <a:endParaRPr lang="en-US" sz="4600" dirty="0"/>
          </a:p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Integrity Checker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399097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B8C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Detecting corrupted or tampered machine logs with a hand-written CRC-32 built on modulo-2 division.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063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B8C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 University  ·  Operating Systems &amp; Computer Networks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62000" y="5212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5A5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github.com/rogeralukka/OS-CN-Product-8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589520" y="1371600"/>
            <a:ext cx="4069080" cy="4114800"/>
          </a:xfrm>
          <a:prstGeom prst="roundRect">
            <a:avLst>
              <a:gd name="adj" fmla="val 2247"/>
            </a:avLst>
          </a:prstGeom>
          <a:solidFill>
            <a:srgbClr val="2A333B"/>
          </a:solidFill>
          <a:ln w="12700">
            <a:solidFill>
              <a:srgbClr val="2A333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7863840" y="162763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BIT, ONE DIFFERENT READING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863840" y="219456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B8C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'0'   ·   ASCII 48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863840" y="2496312"/>
            <a:ext cx="365760" cy="420624"/>
          </a:xfrm>
          <a:prstGeom prst="roundRect">
            <a:avLst>
              <a:gd name="adj" fmla="val 15000"/>
            </a:avLst>
          </a:prstGeom>
          <a:solidFill>
            <a:srgbClr val="3A465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279892" y="2496312"/>
            <a:ext cx="365760" cy="420624"/>
          </a:xfrm>
          <a:prstGeom prst="roundRect">
            <a:avLst>
              <a:gd name="adj" fmla="val 15000"/>
            </a:avLst>
          </a:prstGeom>
          <a:solidFill>
            <a:srgbClr val="3A465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695944" y="2496312"/>
            <a:ext cx="365760" cy="420624"/>
          </a:xfrm>
          <a:prstGeom prst="roundRect">
            <a:avLst>
              <a:gd name="adj" fmla="val 15000"/>
            </a:avLst>
          </a:prstGeom>
          <a:solidFill>
            <a:srgbClr val="3A465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9111996" y="2496312"/>
            <a:ext cx="365760" cy="420624"/>
          </a:xfrm>
          <a:prstGeom prst="roundRect">
            <a:avLst>
              <a:gd name="adj" fmla="val 15000"/>
            </a:avLst>
          </a:prstGeom>
          <a:solidFill>
            <a:srgbClr val="3A465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9528048" y="2496312"/>
            <a:ext cx="365760" cy="420624"/>
          </a:xfrm>
          <a:prstGeom prst="roundRect">
            <a:avLst>
              <a:gd name="adj" fmla="val 15000"/>
            </a:avLst>
          </a:prstGeom>
          <a:solidFill>
            <a:srgbClr val="3A465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9944100" y="2496312"/>
            <a:ext cx="365760" cy="420624"/>
          </a:xfrm>
          <a:prstGeom prst="roundRect">
            <a:avLst>
              <a:gd name="adj" fmla="val 15000"/>
            </a:avLst>
          </a:prstGeom>
          <a:solidFill>
            <a:srgbClr val="3A465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0360152" y="2496312"/>
            <a:ext cx="365760" cy="420624"/>
          </a:xfrm>
          <a:prstGeom prst="roundRect">
            <a:avLst>
              <a:gd name="adj" fmla="val 15000"/>
            </a:avLst>
          </a:prstGeom>
          <a:solidFill>
            <a:srgbClr val="3A465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776204" y="2496312"/>
            <a:ext cx="365760" cy="420624"/>
          </a:xfrm>
          <a:prstGeom prst="roundRect">
            <a:avLst>
              <a:gd name="adj" fmla="val 15000"/>
            </a:avLst>
          </a:prstGeom>
          <a:solidFill>
            <a:srgbClr val="3A465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863840" y="320040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B8C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'1'   ·   ASCII 49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863840" y="3502152"/>
            <a:ext cx="365760" cy="420624"/>
          </a:xfrm>
          <a:prstGeom prst="roundRect">
            <a:avLst>
              <a:gd name="adj" fmla="val 15000"/>
            </a:avLst>
          </a:prstGeom>
          <a:solidFill>
            <a:srgbClr val="3A465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279892" y="3502152"/>
            <a:ext cx="365760" cy="420624"/>
          </a:xfrm>
          <a:prstGeom prst="roundRect">
            <a:avLst>
              <a:gd name="adj" fmla="val 15000"/>
            </a:avLst>
          </a:prstGeom>
          <a:solidFill>
            <a:srgbClr val="3A465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695944" y="3502152"/>
            <a:ext cx="365760" cy="420624"/>
          </a:xfrm>
          <a:prstGeom prst="roundRect">
            <a:avLst>
              <a:gd name="adj" fmla="val 15000"/>
            </a:avLst>
          </a:prstGeom>
          <a:solidFill>
            <a:srgbClr val="3A465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111996" y="3502152"/>
            <a:ext cx="365760" cy="420624"/>
          </a:xfrm>
          <a:prstGeom prst="roundRect">
            <a:avLst>
              <a:gd name="adj" fmla="val 15000"/>
            </a:avLst>
          </a:prstGeom>
          <a:solidFill>
            <a:srgbClr val="3A465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9528048" y="3502152"/>
            <a:ext cx="365760" cy="420624"/>
          </a:xfrm>
          <a:prstGeom prst="roundRect">
            <a:avLst>
              <a:gd name="adj" fmla="val 15000"/>
            </a:avLst>
          </a:prstGeom>
          <a:solidFill>
            <a:srgbClr val="3A465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9944100" y="3502152"/>
            <a:ext cx="365760" cy="420624"/>
          </a:xfrm>
          <a:prstGeom prst="roundRect">
            <a:avLst>
              <a:gd name="adj" fmla="val 15000"/>
            </a:avLst>
          </a:prstGeom>
          <a:solidFill>
            <a:srgbClr val="3A465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10360152" y="3502152"/>
            <a:ext cx="365760" cy="420624"/>
          </a:xfrm>
          <a:prstGeom prst="roundRect">
            <a:avLst>
              <a:gd name="adj" fmla="val 15000"/>
            </a:avLst>
          </a:prstGeom>
          <a:solidFill>
            <a:srgbClr val="3A465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0776204" y="3502152"/>
            <a:ext cx="365760" cy="420624"/>
          </a:xfrm>
          <a:prstGeom prst="roundRect">
            <a:avLst>
              <a:gd name="adj" fmla="val 15000"/>
            </a:avLst>
          </a:prstGeom>
          <a:solidFill>
            <a:srgbClr val="F5A52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26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7863840" y="422452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RPM:3450</a:t>
            </a:r>
            <a:r>
              <a:rPr lang="en-US" sz="1800" dirty="0">
                <a:solidFill>
                  <a:srgbClr val="B8C2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 </a:t>
            </a:r>
            <a:r>
              <a:rPr lang="en-US" sz="1800" dirty="0">
                <a:solidFill>
                  <a:srgbClr val="F5A5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RPM:3451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7863840" y="46634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B8C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Flip the last bit of one character and the log reports a different value.</a:t>
            </a:r>
            <a:endParaRPr lang="en-US" sz="13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31955E2-1E29-8095-55B3-13313746D572}"/>
              </a:ext>
            </a:extLst>
          </p:cNvPr>
          <p:cNvSpPr txBox="1"/>
          <p:nvPr/>
        </p:nvSpPr>
        <p:spPr>
          <a:xfrm>
            <a:off x="646897" y="3639752"/>
            <a:ext cx="682391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5B00"/>
                </a:solidFill>
                <a:latin typeface="Arial"/>
              </a:defRPr>
            </a:pPr>
            <a:r>
              <a:t>TEAM RESPONSIBILITY &amp; DEMONSTRATION ROLES: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1F262D"/>
                </a:solidFill>
                <a:latin typeface="Arial"/>
              </a:rPr>
              <a:t>• ROGER A RAJU</a:t>
            </a:r>
            <a:r>
              <a:rPr sz="950" b="1">
                <a:solidFill>
                  <a:srgbClr val="5B6770"/>
                </a:solidFill>
                <a:latin typeface="Arial"/>
              </a:rPr>
              <a:t> — Project Lead &amp; Architecture: </a:t>
            </a:r>
            <a:r>
              <a:rPr sz="900" b="0">
                <a:solidFill>
                  <a:srgbClr val="5B6770"/>
                </a:solidFill>
                <a:latin typeface="Arial"/>
              </a:rPr>
              <a:t>Problem statement, product overview &amp; dataset management (Slides 1 &amp; 2)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1F262D"/>
                </a:solidFill>
                <a:latin typeface="Arial"/>
              </a:rPr>
              <a:t>• K. ROHIT GOUD</a:t>
            </a:r>
            <a:r>
              <a:rPr sz="950" b="1">
                <a:solidFill>
                  <a:srgbClr val="5B6770"/>
                </a:solidFill>
                <a:latin typeface="Arial"/>
              </a:rPr>
              <a:t> — Algorithm Lead: </a:t>
            </a:r>
            <a:r>
              <a:rPr sz="900" b="0">
                <a:solidFill>
                  <a:srgbClr val="5B6770"/>
                </a:solidFill>
                <a:latin typeface="Arial"/>
              </a:rPr>
              <a:t>Galois field GF(2) math, Modulo-2 XOR logic &amp; CRC-32 division (Slides 3 &amp; 4)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1F262D"/>
                </a:solidFill>
                <a:latin typeface="Arial"/>
              </a:rPr>
              <a:t>• G. SIDDHARTHA</a:t>
            </a:r>
            <a:r>
              <a:rPr sz="950" b="1">
                <a:solidFill>
                  <a:srgbClr val="5B6770"/>
                </a:solidFill>
                <a:latin typeface="Arial"/>
              </a:rPr>
              <a:t> — Data Ingestion Lead: </a:t>
            </a:r>
            <a:r>
              <a:rPr sz="900" b="0">
                <a:solidFill>
                  <a:srgbClr val="5B6770"/>
                </a:solidFill>
                <a:latin typeface="Arial"/>
              </a:rPr>
              <a:t>ASCII-to-binary mapping, file upload parsing &amp; UI integration (Slides 4 &amp; 5)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1F262D"/>
                </a:solidFill>
                <a:latin typeface="Arial"/>
              </a:rPr>
              <a:t>• P. HARSHAVARDHAN</a:t>
            </a:r>
            <a:r>
              <a:rPr sz="950" b="1">
                <a:solidFill>
                  <a:srgbClr val="5B6770"/>
                </a:solidFill>
                <a:latin typeface="Arial"/>
              </a:rPr>
              <a:t> — Backend &amp; Telemetry Lead: </a:t>
            </a:r>
            <a:r>
              <a:rPr sz="900" b="0">
                <a:solidFill>
                  <a:srgbClr val="5B6770"/>
                </a:solidFill>
                <a:latin typeface="Arial"/>
              </a:rPr>
              <a:t>Flask REST API, session divisor &amp; live step telemetry (Slides 5 &amp; 6)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1F262D"/>
                </a:solidFill>
                <a:latin typeface="Arial"/>
              </a:rPr>
              <a:t>• G. REVANTH</a:t>
            </a:r>
            <a:r>
              <a:rPr sz="950" b="1">
                <a:solidFill>
                  <a:srgbClr val="5B6770"/>
                </a:solidFill>
                <a:latin typeface="Arial"/>
              </a:rPr>
              <a:t> — QA &amp; Verification Lead: </a:t>
            </a:r>
            <a:r>
              <a:rPr sz="900" b="0">
                <a:solidFill>
                  <a:srgbClr val="5B6770"/>
                </a:solidFill>
                <a:latin typeface="Arial"/>
              </a:rPr>
              <a:t>Testing matrix (TC-01..TC-05), error simulation &amp; summary (Slides 7 &amp; 8)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9A5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·  THE PROBLEM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flipped bit can change a sensor reading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 Machine Log Integrity Checker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09167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640080" cy="64008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462" y="1955902"/>
            <a:ext cx="294437" cy="29443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417320" y="1764792"/>
            <a:ext cx="5577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1F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Electrical noise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417320" y="214884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Motors, drives and long cable runs inject interference that flips bits in transit.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548640" y="3154680"/>
            <a:ext cx="640080" cy="64008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462" y="3327502"/>
            <a:ext cx="294437" cy="29443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417320" y="3136392"/>
            <a:ext cx="5577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1F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faults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1417320" y="352044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failing buffer or memory cell silently alters a log that was stored correctly.</a:t>
            </a:r>
            <a:endParaRPr lang="en-US" sz="1450" dirty="0"/>
          </a:p>
        </p:txBody>
      </p:sp>
      <p:sp>
        <p:nvSpPr>
          <p:cNvPr id="14" name="Shape 10"/>
          <p:cNvSpPr/>
          <p:nvPr/>
        </p:nvSpPr>
        <p:spPr>
          <a:xfrm>
            <a:off x="548640" y="4526280"/>
            <a:ext cx="640080" cy="64008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1462" y="4699102"/>
            <a:ext cx="294437" cy="29443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417320" y="4507992"/>
            <a:ext cx="5577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1F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In-flight tampering</a:t>
            </a:r>
            <a:endParaRPr lang="en-US" sz="1900" dirty="0"/>
          </a:p>
        </p:txBody>
      </p:sp>
      <p:sp>
        <p:nvSpPr>
          <p:cNvPr id="17" name="Text 12"/>
          <p:cNvSpPr txBox="1"/>
          <p:nvPr/>
        </p:nvSpPr>
        <p:spPr>
          <a:xfrm>
            <a:off x="1417320" y="489204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Plaintext logs can be edited between the machine and the gateway without anyone noticing.</a:t>
            </a:r>
            <a:endParaRPr lang="en-US" sz="1450" dirty="0"/>
          </a:p>
        </p:txBody>
      </p:sp>
      <p:sp>
        <p:nvSpPr>
          <p:cNvPr id="18" name="Shape 13"/>
          <p:cNvSpPr/>
          <p:nvPr/>
        </p:nvSpPr>
        <p:spPr>
          <a:xfrm>
            <a:off x="7498080" y="1783080"/>
            <a:ext cx="4142232" cy="4251960"/>
          </a:xfrm>
          <a:prstGeom prst="roundRect">
            <a:avLst>
              <a:gd name="adj" fmla="val 2208"/>
            </a:avLst>
          </a:prstGeom>
          <a:solidFill>
            <a:srgbClr val="1F262D"/>
          </a:solidFill>
          <a:ln w="12700">
            <a:solidFill>
              <a:srgbClr val="1F262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4"/>
          <p:cNvSpPr txBox="1"/>
          <p:nvPr/>
        </p:nvSpPr>
        <p:spPr>
          <a:xfrm>
            <a:off x="7818120" y="20116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050" dirty="0"/>
          </a:p>
        </p:txBody>
      </p:sp>
      <p:sp>
        <p:nvSpPr>
          <p:cNvPr id="20" name="Text 15"/>
          <p:cNvSpPr txBox="1"/>
          <p:nvPr/>
        </p:nvSpPr>
        <p:spPr>
          <a:xfrm>
            <a:off x="7818120" y="239572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TEMP:82.4C</a:t>
            </a:r>
            <a:endParaRPr lang="en-US" sz="2600" dirty="0"/>
          </a:p>
        </p:txBody>
      </p:sp>
      <p:sp>
        <p:nvSpPr>
          <p:cNvPr id="21" name="Text 16"/>
          <p:cNvSpPr txBox="1"/>
          <p:nvPr/>
        </p:nvSpPr>
        <p:spPr>
          <a:xfrm>
            <a:off x="7818120" y="28346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B8C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800" dirty="0"/>
          </a:p>
        </p:txBody>
      </p:sp>
      <p:sp>
        <p:nvSpPr>
          <p:cNvPr id="22" name="Text 17"/>
          <p:cNvSpPr txBox="1"/>
          <p:nvPr/>
        </p:nvSpPr>
        <p:spPr>
          <a:xfrm>
            <a:off x="7818120" y="312724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dirty="0">
                <a:solidFill>
                  <a:srgbClr val="F5A5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TEMP:92.4C</a:t>
            </a:r>
            <a:endParaRPr lang="en-US" sz="2600" dirty="0"/>
          </a:p>
        </p:txBody>
      </p:sp>
      <p:sp>
        <p:nvSpPr>
          <p:cNvPr id="23" name="Text 18"/>
          <p:cNvSpPr txBox="1"/>
          <p:nvPr/>
        </p:nvSpPr>
        <p:spPr>
          <a:xfrm>
            <a:off x="7818120" y="374904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B8C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Flipping one bit of '8' makes it '9'. A normal reading becomes a false shutdown, or a real fault goes unseen.</a:t>
            </a:r>
            <a:endParaRPr lang="en-US" sz="1400" dirty="0"/>
          </a:p>
        </p:txBody>
      </p:sp>
      <p:sp>
        <p:nvSpPr>
          <p:cNvPr id="24" name="Text 19"/>
          <p:cNvSpPr txBox="1"/>
          <p:nvPr/>
        </p:nvSpPr>
        <p:spPr>
          <a:xfrm>
            <a:off x="7818120" y="47548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APPROACH</a:t>
            </a:r>
            <a:endParaRPr lang="en-US" sz="1050" dirty="0"/>
          </a:p>
        </p:txBody>
      </p:sp>
      <p:sp>
        <p:nvSpPr>
          <p:cNvPr id="25" name="Text 20"/>
          <p:cNvSpPr txBox="1"/>
          <p:nvPr/>
        </p:nvSpPr>
        <p:spPr>
          <a:xfrm>
            <a:off x="7818120" y="5047488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a 32-bit CRC with every log. The receiver recomputes it and flags any mismatch.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9A5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·  HOW IT WORKS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sender computes a CRC; the receiver re-divides to check it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 Machine Log Integrity Checker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09167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11091672" cy="1783080"/>
          </a:xfrm>
          <a:prstGeom prst="roundRect">
            <a:avLst>
              <a:gd name="adj" fmla="val 5128"/>
            </a:avLst>
          </a:prstGeom>
          <a:solidFill>
            <a:srgbClr val="F3F5F6"/>
          </a:solidFill>
          <a:ln w="12700">
            <a:solidFill>
              <a:srgbClr val="F3F5F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 txBox="1"/>
          <p:nvPr/>
        </p:nvSpPr>
        <p:spPr>
          <a:xfrm>
            <a:off x="777240" y="23774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F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SENDER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6974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computes the CRC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194560" y="2057400"/>
            <a:ext cx="1536192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9DEE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 txBox="1"/>
          <p:nvPr/>
        </p:nvSpPr>
        <p:spPr>
          <a:xfrm>
            <a:off x="2322576" y="2148840"/>
            <a:ext cx="1280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F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text</a:t>
            </a:r>
            <a:endParaRPr lang="en-US" sz="1500" dirty="0"/>
          </a:p>
          <a:p>
            <a:pPr marL="0" indent="0"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machine log line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794760" y="2674620"/>
            <a:ext cx="237744" cy="0"/>
          </a:xfrm>
          <a:prstGeom prst="line">
            <a:avLst/>
          </a:prstGeom>
          <a:noFill/>
          <a:ln w="19050">
            <a:solidFill>
              <a:srgbClr val="5B6770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4096512" y="2057400"/>
            <a:ext cx="1536192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9DEE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 txBox="1"/>
          <p:nvPr/>
        </p:nvSpPr>
        <p:spPr>
          <a:xfrm>
            <a:off x="4224528" y="2148840"/>
            <a:ext cx="1280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F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ASCII → binary</a:t>
            </a:r>
            <a:endParaRPr lang="en-US" sz="1500" dirty="0"/>
          </a:p>
          <a:p>
            <a:pPr marL="0" indent="0"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bits per character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96712" y="2674620"/>
            <a:ext cx="237744" cy="0"/>
          </a:xfrm>
          <a:prstGeom prst="line">
            <a:avLst/>
          </a:prstGeom>
          <a:noFill/>
          <a:ln w="19050">
            <a:solidFill>
              <a:srgbClr val="5B6770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5998464" y="2057400"/>
            <a:ext cx="1536192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9DEE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 txBox="1"/>
          <p:nvPr/>
        </p:nvSpPr>
        <p:spPr>
          <a:xfrm>
            <a:off x="6126480" y="2148840"/>
            <a:ext cx="1280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F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 with 32 zeros</a:t>
            </a:r>
            <a:endParaRPr lang="en-US" sz="1500" dirty="0"/>
          </a:p>
          <a:p>
            <a:pPr marL="0" indent="0"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· 2³²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598664" y="2674620"/>
            <a:ext cx="237744" cy="0"/>
          </a:xfrm>
          <a:prstGeom prst="line">
            <a:avLst/>
          </a:prstGeom>
          <a:noFill/>
          <a:ln w="19050">
            <a:solidFill>
              <a:srgbClr val="5B6770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18" name="Shape 16"/>
          <p:cNvSpPr/>
          <p:nvPr/>
        </p:nvSpPr>
        <p:spPr>
          <a:xfrm>
            <a:off x="7900416" y="2057400"/>
            <a:ext cx="1536192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9DEE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 txBox="1"/>
          <p:nvPr/>
        </p:nvSpPr>
        <p:spPr>
          <a:xfrm>
            <a:off x="8028432" y="2148840"/>
            <a:ext cx="1280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F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 by G(x)</a:t>
            </a:r>
            <a:endParaRPr lang="en-US" sz="1500" dirty="0"/>
          </a:p>
          <a:p>
            <a:pPr marL="0" indent="0"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modulo-2 XOR division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9500616" y="2674620"/>
            <a:ext cx="237744" cy="0"/>
          </a:xfrm>
          <a:prstGeom prst="line">
            <a:avLst/>
          </a:prstGeom>
          <a:noFill/>
          <a:ln w="19050">
            <a:solidFill>
              <a:srgbClr val="5B6770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9802368" y="2057400"/>
            <a:ext cx="1536192" cy="1234440"/>
          </a:xfrm>
          <a:prstGeom prst="roundRect">
            <a:avLst>
              <a:gd name="adj" fmla="val 5926"/>
            </a:avLst>
          </a:prstGeom>
          <a:solidFill>
            <a:srgbClr val="FDEFD2"/>
          </a:solidFill>
          <a:ln w="12700">
            <a:solidFill>
              <a:srgbClr val="F5A52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 txBox="1"/>
          <p:nvPr/>
        </p:nvSpPr>
        <p:spPr>
          <a:xfrm>
            <a:off x="9930384" y="2148840"/>
            <a:ext cx="1280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F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CRC = remainder</a:t>
            </a:r>
            <a:endParaRPr lang="en-US" sz="1500" dirty="0"/>
          </a:p>
          <a:p>
            <a:pPr marL="0" indent="0"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bits sent with the log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548640" y="3749040"/>
            <a:ext cx="11091672" cy="1783080"/>
          </a:xfrm>
          <a:prstGeom prst="roundRect">
            <a:avLst>
              <a:gd name="adj" fmla="val 5128"/>
            </a:avLst>
          </a:prstGeom>
          <a:solidFill>
            <a:srgbClr val="F3F5F6"/>
          </a:solidFill>
          <a:ln w="12700">
            <a:solidFill>
              <a:srgbClr val="F3F5F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 txBox="1"/>
          <p:nvPr/>
        </p:nvSpPr>
        <p:spPr>
          <a:xfrm>
            <a:off x="777240" y="434340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F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RECEIVER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46634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verifies the log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2194560" y="4023360"/>
            <a:ext cx="1536192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9DEE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 txBox="1"/>
          <p:nvPr/>
        </p:nvSpPr>
        <p:spPr>
          <a:xfrm>
            <a:off x="2322576" y="4114800"/>
            <a:ext cx="1280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F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+ CRC arrive</a:t>
            </a:r>
            <a:endParaRPr lang="en-US" sz="1500" dirty="0"/>
          </a:p>
          <a:p>
            <a:pPr marL="0" indent="0"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received M′ and R′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3794760" y="4640580"/>
            <a:ext cx="237744" cy="0"/>
          </a:xfrm>
          <a:prstGeom prst="line">
            <a:avLst/>
          </a:prstGeom>
          <a:noFill/>
          <a:ln w="19050">
            <a:solidFill>
              <a:srgbClr val="5B6770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29" name="Shape 27"/>
          <p:cNvSpPr/>
          <p:nvPr/>
        </p:nvSpPr>
        <p:spPr>
          <a:xfrm>
            <a:off x="4096512" y="4023360"/>
            <a:ext cx="1536192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9DEE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 txBox="1"/>
          <p:nvPr/>
        </p:nvSpPr>
        <p:spPr>
          <a:xfrm>
            <a:off x="4224528" y="4114800"/>
            <a:ext cx="1280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F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codeword</a:t>
            </a:r>
            <a:endParaRPr lang="en-US" sz="1500" dirty="0"/>
          </a:p>
          <a:p>
            <a:pPr marL="0" indent="0"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bits(M′) + R′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5696712" y="4640580"/>
            <a:ext cx="237744" cy="0"/>
          </a:xfrm>
          <a:prstGeom prst="line">
            <a:avLst/>
          </a:prstGeom>
          <a:noFill/>
          <a:ln w="19050">
            <a:solidFill>
              <a:srgbClr val="5B6770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32" name="Shape 30"/>
          <p:cNvSpPr/>
          <p:nvPr/>
        </p:nvSpPr>
        <p:spPr>
          <a:xfrm>
            <a:off x="5998464" y="4023360"/>
            <a:ext cx="1536192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9DEE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Text 31"/>
          <p:cNvSpPr txBox="1"/>
          <p:nvPr/>
        </p:nvSpPr>
        <p:spPr>
          <a:xfrm>
            <a:off x="6126480" y="4114800"/>
            <a:ext cx="1280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F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 by same G(x)</a:t>
            </a:r>
            <a:endParaRPr lang="en-US" sz="1500" dirty="0"/>
          </a:p>
          <a:p>
            <a:pPr marL="0" indent="0"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session divisor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7598664" y="4640580"/>
            <a:ext cx="237744" cy="0"/>
          </a:xfrm>
          <a:prstGeom prst="line">
            <a:avLst/>
          </a:prstGeom>
          <a:noFill/>
          <a:ln w="19050">
            <a:solidFill>
              <a:srgbClr val="5B6770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35" name="Shape 33"/>
          <p:cNvSpPr/>
          <p:nvPr/>
        </p:nvSpPr>
        <p:spPr>
          <a:xfrm>
            <a:off x="7900416" y="4023360"/>
            <a:ext cx="1536192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9DEE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 txBox="1"/>
          <p:nvPr/>
        </p:nvSpPr>
        <p:spPr>
          <a:xfrm>
            <a:off x="8028432" y="4114800"/>
            <a:ext cx="1280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F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Remainder = 0?</a:t>
            </a:r>
            <a:endParaRPr lang="en-US" sz="1500" dirty="0"/>
          </a:p>
          <a:p>
            <a:pPr marL="0" indent="0"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all 32 bits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9500616" y="4640580"/>
            <a:ext cx="237744" cy="0"/>
          </a:xfrm>
          <a:prstGeom prst="line">
            <a:avLst/>
          </a:prstGeom>
          <a:noFill/>
          <a:ln w="19050">
            <a:solidFill>
              <a:srgbClr val="5B6770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38" name="Text 36"/>
          <p:cNvSpPr txBox="1"/>
          <p:nvPr/>
        </p:nvSpPr>
        <p:spPr>
          <a:xfrm>
            <a:off x="9802368" y="4023360"/>
            <a:ext cx="1536192" cy="566928"/>
          </a:xfrm>
          <a:prstGeom prst="roundRect">
            <a:avLst>
              <a:gd name="adj" fmla="val 9677"/>
            </a:avLst>
          </a:prstGeom>
          <a:solidFill>
            <a:srgbClr val="15803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ACCEPT</a:t>
            </a:r>
            <a:endParaRPr lang="en-US" sz="140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remainder = 0…0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9802368" y="4690872"/>
            <a:ext cx="1536192" cy="566928"/>
          </a:xfrm>
          <a:prstGeom prst="roundRect">
            <a:avLst>
              <a:gd name="adj" fmla="val 9677"/>
            </a:avLst>
          </a:prstGeom>
          <a:solidFill>
            <a:srgbClr val="B42318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REJECT</a:t>
            </a:r>
            <a:endParaRPr lang="en-US" sz="140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remainder ≠ 0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48640" y="576072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sides use the same 33-bit divisor G(x), fixed for the whole session.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9A5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·  THE MATH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Modulo-2 arithmetic makes the check exact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 Machine Log Integrity Checker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09167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830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F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XOR rules in GF(2)</a:t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86000"/>
          <a:ext cx="4114800" cy="22860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⊕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F26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F26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F26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F26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F26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F26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F26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F26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F26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F26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F26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F26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480060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 and subtraction are the same operation. No carries, no borrows, so long division reduces to repeated XOR.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5212080" y="1783080"/>
            <a:ext cx="6428232" cy="4251960"/>
          </a:xfrm>
          <a:prstGeom prst="roundRect">
            <a:avLst>
              <a:gd name="adj" fmla="val 2151"/>
            </a:avLst>
          </a:prstGeom>
          <a:solidFill>
            <a:srgbClr val="F3F5F6"/>
          </a:solidFill>
          <a:ln w="12700">
            <a:solidFill>
              <a:srgbClr val="F3F5F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7"/>
          <p:cNvSpPr txBox="1"/>
          <p:nvPr/>
        </p:nvSpPr>
        <p:spPr>
          <a:xfrm>
            <a:off x="5532120" y="201168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F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receiver expects a zero remainder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5532120" y="2715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SENDER DIVIDES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7315200" y="265176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F26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M(x)·x³² = Q(x)·G(x) ⊕ R(x)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5532120" y="335584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CODEWORD SENT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7315200" y="329184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F26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T(x) = M(x)·x³² ⊕ R(x)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532120" y="399592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SUBSTITUTE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7315200" y="39319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F26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T(x) = Q(x)·G(x) ⊕ R(x) ⊕ R(x)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5532120" y="463600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7315200" y="457200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F26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⊕ R = 0, so T(x) = Q(x)·G(x)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532120" y="5385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7315200" y="5257800"/>
            <a:ext cx="4023360" cy="457200"/>
          </a:xfrm>
          <a:prstGeom prst="roundRect">
            <a:avLst>
              <a:gd name="adj" fmla="val 12000"/>
            </a:avLst>
          </a:prstGeom>
          <a:solidFill>
            <a:srgbClr val="FDEFD2"/>
          </a:solidFill>
          <a:ln w="12700">
            <a:solidFill>
              <a:srgbClr val="F5A52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F26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T(x) mod G(x) = 0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9A5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·  THE DIVISOR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33-bit divisor, fixed for the whole session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 Machine Log Integrity Checker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09167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83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F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G(x): example session divisor, 33 bits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194560"/>
            <a:ext cx="300644" cy="457200"/>
          </a:xfrm>
          <a:prstGeom prst="roundRect">
            <a:avLst>
              <a:gd name="adj" fmla="val 18249"/>
            </a:avLst>
          </a:prstGeom>
          <a:solidFill>
            <a:srgbClr val="F5A52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26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85860" y="2194560"/>
            <a:ext cx="300644" cy="457200"/>
          </a:xfrm>
          <a:prstGeom prst="roundRect">
            <a:avLst>
              <a:gd name="adj" fmla="val 18249"/>
            </a:avLst>
          </a:prstGeom>
          <a:solidFill>
            <a:srgbClr val="1F262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223079" y="2194560"/>
            <a:ext cx="300644" cy="457200"/>
          </a:xfrm>
          <a:prstGeom prst="roundRect">
            <a:avLst>
              <a:gd name="adj" fmla="val 18249"/>
            </a:avLst>
          </a:prstGeom>
          <a:solidFill>
            <a:srgbClr val="1F262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560299" y="2194560"/>
            <a:ext cx="300644" cy="457200"/>
          </a:xfrm>
          <a:prstGeom prst="roundRect">
            <a:avLst>
              <a:gd name="adj" fmla="val 18249"/>
            </a:avLst>
          </a:prstGeom>
          <a:solidFill>
            <a:srgbClr val="1F262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897519" y="2194560"/>
            <a:ext cx="300644" cy="457200"/>
          </a:xfrm>
          <a:prstGeom prst="roundRect">
            <a:avLst>
              <a:gd name="adj" fmla="val 18249"/>
            </a:avLst>
          </a:prstGeom>
          <a:solidFill>
            <a:srgbClr val="1F262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234738" y="2194560"/>
            <a:ext cx="300644" cy="457200"/>
          </a:xfrm>
          <a:prstGeom prst="roundRect">
            <a:avLst>
              <a:gd name="adj" fmla="val 18249"/>
            </a:avLst>
          </a:prstGeom>
          <a:solidFill>
            <a:srgbClr val="1F262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571958" y="2194560"/>
            <a:ext cx="300644" cy="457200"/>
          </a:xfrm>
          <a:prstGeom prst="roundRect">
            <a:avLst>
              <a:gd name="adj" fmla="val 18249"/>
            </a:avLst>
          </a:prstGeom>
          <a:solidFill>
            <a:srgbClr val="1F262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2909177" y="2194560"/>
            <a:ext cx="300644" cy="457200"/>
          </a:xfrm>
          <a:prstGeom prst="roundRect">
            <a:avLst>
              <a:gd name="adj" fmla="val 18249"/>
            </a:avLst>
          </a:prstGeom>
          <a:solidFill>
            <a:srgbClr val="1F262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246397" y="2194560"/>
            <a:ext cx="300644" cy="457200"/>
          </a:xfrm>
          <a:prstGeom prst="roundRect">
            <a:avLst>
              <a:gd name="adj" fmla="val 18249"/>
            </a:avLst>
          </a:prstGeom>
          <a:solidFill>
            <a:srgbClr val="1F262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583617" y="2194560"/>
            <a:ext cx="300644" cy="457200"/>
          </a:xfrm>
          <a:prstGeom prst="roundRect">
            <a:avLst>
              <a:gd name="adj" fmla="val 18249"/>
            </a:avLst>
          </a:prstGeom>
          <a:solidFill>
            <a:srgbClr val="1F262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3920836" y="2194560"/>
            <a:ext cx="300644" cy="457200"/>
          </a:xfrm>
          <a:prstGeom prst="roundRect">
            <a:avLst>
              <a:gd name="adj" fmla="val 18249"/>
            </a:avLst>
          </a:prstGeom>
          <a:solidFill>
            <a:srgbClr val="1F262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258056" y="2194560"/>
            <a:ext cx="300644" cy="457200"/>
          </a:xfrm>
          <a:prstGeom prst="roundRect">
            <a:avLst>
              <a:gd name="adj" fmla="val 18249"/>
            </a:avLst>
          </a:prstGeom>
          <a:solidFill>
            <a:srgbClr val="1F262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595276" y="2194560"/>
            <a:ext cx="300644" cy="457200"/>
          </a:xfrm>
          <a:prstGeom prst="roundRect">
            <a:avLst>
              <a:gd name="adj" fmla="val 18249"/>
            </a:avLst>
          </a:prstGeom>
          <a:solidFill>
            <a:srgbClr val="1F262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932495" y="2194560"/>
            <a:ext cx="300644" cy="457200"/>
          </a:xfrm>
          <a:prstGeom prst="roundRect">
            <a:avLst>
              <a:gd name="adj" fmla="val 18249"/>
            </a:avLst>
          </a:prstGeom>
          <a:solidFill>
            <a:srgbClr val="1F262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69715" y="2194560"/>
            <a:ext cx="300644" cy="457200"/>
          </a:xfrm>
          <a:prstGeom prst="roundRect">
            <a:avLst>
              <a:gd name="adj" fmla="val 18249"/>
            </a:avLst>
          </a:prstGeom>
          <a:solidFill>
            <a:srgbClr val="1F262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606935" y="2194560"/>
            <a:ext cx="300644" cy="457200"/>
          </a:xfrm>
          <a:prstGeom prst="roundRect">
            <a:avLst>
              <a:gd name="adj" fmla="val 18249"/>
            </a:avLst>
          </a:prstGeom>
          <a:solidFill>
            <a:srgbClr val="1F262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944154" y="2194560"/>
            <a:ext cx="300644" cy="457200"/>
          </a:xfrm>
          <a:prstGeom prst="roundRect">
            <a:avLst>
              <a:gd name="adj" fmla="val 18249"/>
            </a:avLst>
          </a:prstGeom>
          <a:solidFill>
            <a:srgbClr val="1F262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281374" y="2194560"/>
            <a:ext cx="300644" cy="457200"/>
          </a:xfrm>
          <a:prstGeom prst="roundRect">
            <a:avLst>
              <a:gd name="adj" fmla="val 18249"/>
            </a:avLst>
          </a:prstGeom>
          <a:solidFill>
            <a:srgbClr val="1F262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618593" y="2194560"/>
            <a:ext cx="300644" cy="457200"/>
          </a:xfrm>
          <a:prstGeom prst="roundRect">
            <a:avLst>
              <a:gd name="adj" fmla="val 18249"/>
            </a:avLst>
          </a:prstGeom>
          <a:solidFill>
            <a:srgbClr val="1F262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955813" y="2194560"/>
            <a:ext cx="300644" cy="457200"/>
          </a:xfrm>
          <a:prstGeom prst="roundRect">
            <a:avLst>
              <a:gd name="adj" fmla="val 18249"/>
            </a:avLst>
          </a:prstGeom>
          <a:solidFill>
            <a:srgbClr val="1F262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293033" y="2194560"/>
            <a:ext cx="300644" cy="457200"/>
          </a:xfrm>
          <a:prstGeom prst="roundRect">
            <a:avLst>
              <a:gd name="adj" fmla="val 18249"/>
            </a:avLst>
          </a:prstGeom>
          <a:solidFill>
            <a:srgbClr val="1F262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630252" y="2194560"/>
            <a:ext cx="300644" cy="457200"/>
          </a:xfrm>
          <a:prstGeom prst="roundRect">
            <a:avLst>
              <a:gd name="adj" fmla="val 18249"/>
            </a:avLst>
          </a:prstGeom>
          <a:solidFill>
            <a:srgbClr val="1F262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7967472" y="2194560"/>
            <a:ext cx="300644" cy="457200"/>
          </a:xfrm>
          <a:prstGeom prst="roundRect">
            <a:avLst>
              <a:gd name="adj" fmla="val 18249"/>
            </a:avLst>
          </a:prstGeom>
          <a:solidFill>
            <a:srgbClr val="1F262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8304692" y="2194560"/>
            <a:ext cx="300644" cy="457200"/>
          </a:xfrm>
          <a:prstGeom prst="roundRect">
            <a:avLst>
              <a:gd name="adj" fmla="val 18249"/>
            </a:avLst>
          </a:prstGeom>
          <a:solidFill>
            <a:srgbClr val="1F262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8641911" y="2194560"/>
            <a:ext cx="300644" cy="457200"/>
          </a:xfrm>
          <a:prstGeom prst="roundRect">
            <a:avLst>
              <a:gd name="adj" fmla="val 18249"/>
            </a:avLst>
          </a:prstGeom>
          <a:solidFill>
            <a:srgbClr val="1F262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8979131" y="2194560"/>
            <a:ext cx="300644" cy="457200"/>
          </a:xfrm>
          <a:prstGeom prst="roundRect">
            <a:avLst>
              <a:gd name="adj" fmla="val 18249"/>
            </a:avLst>
          </a:prstGeom>
          <a:solidFill>
            <a:srgbClr val="1F262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316351" y="2194560"/>
            <a:ext cx="300644" cy="457200"/>
          </a:xfrm>
          <a:prstGeom prst="roundRect">
            <a:avLst>
              <a:gd name="adj" fmla="val 18249"/>
            </a:avLst>
          </a:prstGeom>
          <a:solidFill>
            <a:srgbClr val="1F262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9653570" y="2194560"/>
            <a:ext cx="300644" cy="457200"/>
          </a:xfrm>
          <a:prstGeom prst="roundRect">
            <a:avLst>
              <a:gd name="adj" fmla="val 18249"/>
            </a:avLst>
          </a:prstGeom>
          <a:solidFill>
            <a:srgbClr val="1F262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990790" y="2194560"/>
            <a:ext cx="300644" cy="457200"/>
          </a:xfrm>
          <a:prstGeom prst="roundRect">
            <a:avLst>
              <a:gd name="adj" fmla="val 18249"/>
            </a:avLst>
          </a:prstGeom>
          <a:solidFill>
            <a:srgbClr val="1F262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10328009" y="2194560"/>
            <a:ext cx="300644" cy="457200"/>
          </a:xfrm>
          <a:prstGeom prst="roundRect">
            <a:avLst>
              <a:gd name="adj" fmla="val 18249"/>
            </a:avLst>
          </a:prstGeom>
          <a:solidFill>
            <a:srgbClr val="1F262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10665229" y="2194560"/>
            <a:ext cx="300644" cy="457200"/>
          </a:xfrm>
          <a:prstGeom prst="roundRect">
            <a:avLst>
              <a:gd name="adj" fmla="val 18249"/>
            </a:avLst>
          </a:prstGeom>
          <a:solidFill>
            <a:srgbClr val="1F262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11002449" y="2194560"/>
            <a:ext cx="300644" cy="457200"/>
          </a:xfrm>
          <a:prstGeom prst="roundRect">
            <a:avLst>
              <a:gd name="adj" fmla="val 18249"/>
            </a:avLst>
          </a:prstGeom>
          <a:solidFill>
            <a:srgbClr val="1F262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11339668" y="2194560"/>
            <a:ext cx="300644" cy="457200"/>
          </a:xfrm>
          <a:prstGeom prst="roundRect">
            <a:avLst>
              <a:gd name="adj" fmla="val 18249"/>
            </a:avLst>
          </a:prstGeom>
          <a:solidFill>
            <a:srgbClr val="F5A52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26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548640" y="27614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1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10177272" y="27614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1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1</a:t>
            </a:r>
            <a:endParaRPr lang="en-US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3200400" y="2761488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random bits, chosen once by crcgen()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548640" y="3611880"/>
            <a:ext cx="3575304" cy="2423160"/>
          </a:xfrm>
          <a:prstGeom prst="roundRect">
            <a:avLst>
              <a:gd name="adj" fmla="val 3774"/>
            </a:avLst>
          </a:prstGeom>
          <a:solidFill>
            <a:srgbClr val="F3F5F6"/>
          </a:solidFill>
          <a:ln w="12700">
            <a:solidFill>
              <a:srgbClr val="F3F5F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4" name="Shape 42"/>
          <p:cNvSpPr/>
          <p:nvPr/>
        </p:nvSpPr>
        <p:spPr>
          <a:xfrm>
            <a:off x="822960" y="3840480"/>
            <a:ext cx="502920" cy="50292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4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748" y="3976268"/>
            <a:ext cx="231343" cy="231343"/>
          </a:xfrm>
          <a:prstGeom prst="rect">
            <a:avLst/>
          </a:prstGeom>
        </p:spPr>
      </p:pic>
      <p:sp>
        <p:nvSpPr>
          <p:cNvPr id="46" name="Text 43"/>
          <p:cNvSpPr txBox="1"/>
          <p:nvPr/>
        </p:nvSpPr>
        <p:spPr>
          <a:xfrm>
            <a:off x="822960" y="4553712"/>
            <a:ext cx="3026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F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33 bits?</a:t>
            </a:r>
            <a:endParaRPr lang="en-US" sz="1700" dirty="0"/>
          </a:p>
        </p:txBody>
      </p:sp>
      <p:sp>
        <p:nvSpPr>
          <p:cNvPr id="47" name="Text 44"/>
          <p:cNvSpPr txBox="1"/>
          <p:nvPr/>
        </p:nvSpPr>
        <p:spPr>
          <a:xfrm>
            <a:off x="822960" y="4919472"/>
            <a:ext cx="302666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degree-32 polynomial has 33 coefficients. Dividing by it leaves at most 32 bits, and that remainder is the CRC.</a:t>
            </a:r>
            <a:endParaRPr lang="en-US" sz="1450" dirty="0"/>
          </a:p>
        </p:txBody>
      </p:sp>
      <p:sp>
        <p:nvSpPr>
          <p:cNvPr id="48" name="Shape 45"/>
          <p:cNvSpPr/>
          <p:nvPr/>
        </p:nvSpPr>
        <p:spPr>
          <a:xfrm>
            <a:off x="4306824" y="3611880"/>
            <a:ext cx="3575304" cy="2423160"/>
          </a:xfrm>
          <a:prstGeom prst="roundRect">
            <a:avLst>
              <a:gd name="adj" fmla="val 3774"/>
            </a:avLst>
          </a:prstGeom>
          <a:solidFill>
            <a:srgbClr val="F3F5F6"/>
          </a:solidFill>
          <a:ln w="12700">
            <a:solidFill>
              <a:srgbClr val="F3F5F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9" name="Shape 46"/>
          <p:cNvSpPr/>
          <p:nvPr/>
        </p:nvSpPr>
        <p:spPr>
          <a:xfrm>
            <a:off x="4581144" y="3840480"/>
            <a:ext cx="502920" cy="50292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5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6932" y="3976268"/>
            <a:ext cx="231343" cy="231343"/>
          </a:xfrm>
          <a:prstGeom prst="rect">
            <a:avLst/>
          </a:prstGeom>
        </p:spPr>
      </p:pic>
      <p:sp>
        <p:nvSpPr>
          <p:cNvPr id="51" name="Text 47"/>
          <p:cNvSpPr txBox="1"/>
          <p:nvPr/>
        </p:nvSpPr>
        <p:spPr>
          <a:xfrm>
            <a:off x="4581144" y="4553712"/>
            <a:ext cx="3026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F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once</a:t>
            </a:r>
            <a:endParaRPr lang="en-US" sz="1700" dirty="0"/>
          </a:p>
        </p:txBody>
      </p:sp>
      <p:sp>
        <p:nvSpPr>
          <p:cNvPr id="52" name="Text 48"/>
          <p:cNvSpPr txBox="1"/>
          <p:nvPr/>
        </p:nvSpPr>
        <p:spPr>
          <a:xfrm>
            <a:off x="4581144" y="4919472"/>
            <a:ext cx="302666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divisor is created on first use and stored in GENERATOR. Sender and receiver share it for the whole session.</a:t>
            </a:r>
            <a:endParaRPr lang="en-US" sz="1450" dirty="0"/>
          </a:p>
        </p:txBody>
      </p:sp>
      <p:sp>
        <p:nvSpPr>
          <p:cNvPr id="53" name="Shape 49"/>
          <p:cNvSpPr/>
          <p:nvPr/>
        </p:nvSpPr>
        <p:spPr>
          <a:xfrm>
            <a:off x="8065008" y="3611880"/>
            <a:ext cx="3575304" cy="2423160"/>
          </a:xfrm>
          <a:prstGeom prst="roundRect">
            <a:avLst>
              <a:gd name="adj" fmla="val 3774"/>
            </a:avLst>
          </a:prstGeom>
          <a:solidFill>
            <a:srgbClr val="F3F5F6"/>
          </a:solidFill>
          <a:ln w="12700">
            <a:solidFill>
              <a:srgbClr val="F3F5F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4" name="Shape 50"/>
          <p:cNvSpPr/>
          <p:nvPr/>
        </p:nvSpPr>
        <p:spPr>
          <a:xfrm>
            <a:off x="8339328" y="3840480"/>
            <a:ext cx="502920" cy="50292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5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5116" y="3976268"/>
            <a:ext cx="231343" cy="231343"/>
          </a:xfrm>
          <a:prstGeom prst="rect">
            <a:avLst/>
          </a:prstGeom>
        </p:spPr>
      </p:pic>
      <p:sp>
        <p:nvSpPr>
          <p:cNvPr id="56" name="Text 51"/>
          <p:cNvSpPr txBox="1"/>
          <p:nvPr/>
        </p:nvSpPr>
        <p:spPr>
          <a:xfrm>
            <a:off x="8339328" y="4553712"/>
            <a:ext cx="3026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F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 IEEE polynomial</a:t>
            </a:r>
            <a:endParaRPr lang="en-US" sz="1700" dirty="0"/>
          </a:p>
        </p:txBody>
      </p:sp>
      <p:sp>
        <p:nvSpPr>
          <p:cNvPr id="57" name="Text 52"/>
          <p:cNvSpPr txBox="1"/>
          <p:nvPr/>
        </p:nvSpPr>
        <p:spPr>
          <a:xfrm>
            <a:off x="8339328" y="4919472"/>
            <a:ext cx="302666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spec uses a random divisor. That is fine for a demo; real systems use a standard, well-studied polynomial.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9A5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·  IMPLEMENTATION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crc_checker.py: the whole algorithm in about 25 lines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 Machine Log Integrity Checker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09167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5760720" cy="1554480"/>
          </a:xfrm>
          <a:prstGeom prst="roundRect">
            <a:avLst>
              <a:gd name="adj" fmla="val 5882"/>
            </a:avLst>
          </a:prstGeom>
          <a:solidFill>
            <a:srgbClr val="1F262D"/>
          </a:solidFill>
          <a:ln w="12700">
            <a:solidFill>
              <a:srgbClr val="1F262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 txBox="1"/>
          <p:nvPr/>
        </p:nvSpPr>
        <p:spPr>
          <a:xfrm>
            <a:off x="777240" y="18745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ascii2binary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194560"/>
            <a:ext cx="5303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B4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ascii2binary(text):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result = </a:t>
            </a:r>
            <a:r>
              <a:rPr lang="en-US" sz="1100" dirty="0">
                <a:solidFill>
                  <a:srgbClr val="A5D6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""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100" dirty="0">
                <a:solidFill>
                  <a:srgbClr val="FFB4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ch </a:t>
            </a:r>
            <a:r>
              <a:rPr lang="en-US" sz="1100" dirty="0">
                <a:solidFill>
                  <a:srgbClr val="FFB4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text: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result += </a:t>
            </a:r>
            <a:r>
              <a:rPr lang="en-US" sz="1100" dirty="0">
                <a:solidFill>
                  <a:srgbClr val="A5D6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f"{ord(ch):08b}"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100" dirty="0">
                <a:solidFill>
                  <a:srgbClr val="FFB4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result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3429000"/>
            <a:ext cx="5760720" cy="2606040"/>
          </a:xfrm>
          <a:prstGeom prst="roundRect">
            <a:avLst>
              <a:gd name="adj" fmla="val 3509"/>
            </a:avLst>
          </a:prstGeom>
          <a:solidFill>
            <a:srgbClr val="1F262D"/>
          </a:solidFill>
          <a:ln w="12700">
            <a:solidFill>
              <a:srgbClr val="1F262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 txBox="1"/>
          <p:nvPr/>
        </p:nvSpPr>
        <p:spPr>
          <a:xfrm>
            <a:off x="777240" y="356616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xordiv: modulo-2 long division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886200"/>
            <a:ext cx="5303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B4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xordiv(dividend, divisor):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 = list(dividend)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 = len(divisor)                </a:t>
            </a:r>
            <a:r>
              <a:rPr lang="en-US" sz="11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33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100" dirty="0">
                <a:solidFill>
                  <a:srgbClr val="FFB4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 </a:t>
            </a:r>
            <a:r>
              <a:rPr lang="en-US" sz="1100" dirty="0">
                <a:solidFill>
                  <a:srgbClr val="FFB4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range(len(d) - m + </a:t>
            </a:r>
            <a:r>
              <a:rPr lang="en-US" sz="1100" dirty="0">
                <a:solidFill>
                  <a:srgbClr val="FFB4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1100" dirty="0">
                <a:solidFill>
                  <a:srgbClr val="FFB4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d[i] == </a:t>
            </a:r>
            <a:r>
              <a:rPr lang="en-US" sz="1100" dirty="0">
                <a:solidFill>
                  <a:srgbClr val="A5D6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'1'</a:t>
            </a: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r>
              <a:rPr lang="en-US" sz="1100" dirty="0">
                <a:solidFill>
                  <a:srgbClr val="FFB4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j </a:t>
            </a:r>
            <a:r>
              <a:rPr lang="en-US" sz="1100" dirty="0">
                <a:solidFill>
                  <a:srgbClr val="FFB4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range(m):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d[i+j] = </a:t>
            </a:r>
            <a:r>
              <a:rPr lang="en-US" sz="1100" dirty="0">
                <a:solidFill>
                  <a:srgbClr val="A5D6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'1'</a:t>
            </a: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FFB4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d[i+j] != divisor[j] else </a:t>
            </a:r>
            <a:r>
              <a:rPr lang="en-US" sz="1100" dirty="0">
                <a:solidFill>
                  <a:srgbClr val="A5D6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'0'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100" dirty="0">
                <a:solidFill>
                  <a:srgbClr val="FFB4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A5D6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''</a:t>
            </a: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.join(d[-(m-</a:t>
            </a:r>
            <a:r>
              <a:rPr lang="en-US" sz="1100" dirty="0">
                <a:solidFill>
                  <a:srgbClr val="FFB4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):])      </a:t>
            </a:r>
            <a:r>
              <a:rPr lang="en-US" sz="11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last 32 bits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92240" y="1737360"/>
            <a:ext cx="5148072" cy="2697480"/>
          </a:xfrm>
          <a:prstGeom prst="roundRect">
            <a:avLst>
              <a:gd name="adj" fmla="val 3390"/>
            </a:avLst>
          </a:prstGeom>
          <a:solidFill>
            <a:srgbClr val="1F262D"/>
          </a:solidFill>
          <a:ln w="12700">
            <a:solidFill>
              <a:srgbClr val="1F262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 txBox="1"/>
          <p:nvPr/>
        </p:nvSpPr>
        <p:spPr>
          <a:xfrm>
            <a:off x="6720840" y="18745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compute_crc and verify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720840" y="219456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B4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compute_crc(text):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bits = ascii2binary(text)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padded = bits + </a:t>
            </a:r>
            <a:r>
              <a:rPr lang="en-US" sz="1100" dirty="0">
                <a:solidFill>
                  <a:srgbClr val="A5D6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'0'</a:t>
            </a: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* </a:t>
            </a:r>
            <a:r>
              <a:rPr lang="en-US" sz="1100" dirty="0">
                <a:solidFill>
                  <a:srgbClr val="FFB4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32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100" dirty="0">
                <a:solidFill>
                  <a:srgbClr val="FFB4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xordiv(padded, get_divisor())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B4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verify(text, received_crc):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bits = ascii2binary(text)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codeword = bits + received_crc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remainder = xordiv(codeword, get_divisor())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100" dirty="0">
                <a:solidFill>
                  <a:srgbClr val="FFB4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remainder == </a:t>
            </a:r>
            <a:r>
              <a:rPr lang="en-US" sz="1100" dirty="0">
                <a:solidFill>
                  <a:srgbClr val="A5D6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'0'</a:t>
            </a: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* </a:t>
            </a:r>
            <a:r>
              <a:rPr lang="en-US" sz="1100" dirty="0">
                <a:solidFill>
                  <a:srgbClr val="FFB4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32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92240" y="4572000"/>
            <a:ext cx="5148072" cy="1463040"/>
          </a:xfrm>
          <a:prstGeom prst="roundRect">
            <a:avLst>
              <a:gd name="adj" fmla="val 6250"/>
            </a:avLst>
          </a:prstGeom>
          <a:solidFill>
            <a:srgbClr val="F3F5F6"/>
          </a:solidFill>
          <a:ln w="12700">
            <a:solidFill>
              <a:srgbClr val="F3F5F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 txBox="1"/>
          <p:nvPr/>
        </p:nvSpPr>
        <p:spPr>
          <a:xfrm>
            <a:off x="6720840" y="470916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F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this in the viva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720840" y="502920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xordiv flips bits in place; no zlib, no libraries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remainder is the last 32 bits after division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Sender and receiver call the same get_divisor()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9A5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·  WHY CRC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CRC-32 beats parity bits and checksums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 Machine Log Integrity Checker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09167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3108960" cy="3749040"/>
          </a:xfrm>
          <a:prstGeom prst="roundRect">
            <a:avLst>
              <a:gd name="adj" fmla="val 2941"/>
            </a:avLst>
          </a:prstGeom>
          <a:solidFill>
            <a:srgbClr val="F3F5F6"/>
          </a:solidFill>
          <a:ln w="12700">
            <a:solidFill>
              <a:srgbClr val="F3F5F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 txBox="1"/>
          <p:nvPr/>
        </p:nvSpPr>
        <p:spPr>
          <a:xfrm>
            <a:off x="822960" y="2011680"/>
            <a:ext cx="777240" cy="256032"/>
          </a:xfrm>
          <a:prstGeom prst="roundRect">
            <a:avLst>
              <a:gd name="adj" fmla="val 21429"/>
            </a:avLst>
          </a:prstGeom>
          <a:solidFill>
            <a:srgbClr val="FDECEA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4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231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1F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Parity bit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971800"/>
            <a:ext cx="2560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</a:t>
            </a:r>
            <a:endParaRPr lang="en-US" sz="105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450" dirty="0">
                <a:solidFill>
                  <a:srgbClr val="1F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odd number of flipped bits</a:t>
            </a:r>
            <a:endParaRPr lang="en-US" sz="1050" dirty="0"/>
          </a:p>
          <a:p>
            <a:pPr marL="0" indent="0">
              <a:buNone/>
            </a:pPr>
            <a:r>
              <a:rPr lang="en-US" sz="1050" b="1" kern="0" spc="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MISSES</a:t>
            </a:r>
            <a:endParaRPr lang="en-US" sz="105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450" dirty="0">
                <a:solidFill>
                  <a:srgbClr val="1F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even number: two flips cancel out</a:t>
            </a:r>
            <a:endParaRPr lang="en-US" sz="1050" dirty="0"/>
          </a:p>
          <a:p>
            <a:pPr marL="0" indent="0">
              <a:buNone/>
            </a:pPr>
            <a:r>
              <a:rPr lang="en-US" sz="1050" b="1" kern="0" spc="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OVERHEAD</a:t>
            </a:r>
            <a:endParaRPr lang="en-US" sz="105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450" dirty="0">
                <a:solidFill>
                  <a:srgbClr val="1F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bit per byte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840480" y="1783080"/>
            <a:ext cx="3108960" cy="3749040"/>
          </a:xfrm>
          <a:prstGeom prst="roundRect">
            <a:avLst>
              <a:gd name="adj" fmla="val 2941"/>
            </a:avLst>
          </a:prstGeom>
          <a:solidFill>
            <a:srgbClr val="F3F5F6"/>
          </a:solidFill>
          <a:ln w="12700">
            <a:solidFill>
              <a:srgbClr val="F3F5F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 txBox="1"/>
          <p:nvPr/>
        </p:nvSpPr>
        <p:spPr>
          <a:xfrm>
            <a:off x="4114800" y="2011680"/>
            <a:ext cx="777240" cy="256032"/>
          </a:xfrm>
          <a:prstGeom prst="roundRect">
            <a:avLst>
              <a:gd name="adj" fmla="val 21429"/>
            </a:avLst>
          </a:prstGeom>
          <a:solidFill>
            <a:srgbClr val="FDEFD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A5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114800" y="24231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1F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Additive checksum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114800" y="2971800"/>
            <a:ext cx="2560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</a:t>
            </a:r>
            <a:endParaRPr lang="en-US" sz="105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450" dirty="0">
                <a:solidFill>
                  <a:srgbClr val="1F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random errors</a:t>
            </a:r>
            <a:endParaRPr lang="en-US" sz="1050" dirty="0"/>
          </a:p>
          <a:p>
            <a:pPr marL="0" indent="0">
              <a:buNone/>
            </a:pPr>
            <a:r>
              <a:rPr lang="en-US" sz="1050" b="1" kern="0" spc="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MISSES</a:t>
            </a:r>
            <a:endParaRPr lang="en-US" sz="105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450" dirty="0">
                <a:solidFill>
                  <a:srgbClr val="1F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Compensating changes and reordered bytes</a:t>
            </a:r>
            <a:endParaRPr lang="en-US" sz="1050" dirty="0"/>
          </a:p>
          <a:p>
            <a:pPr marL="0" indent="0">
              <a:buNone/>
            </a:pPr>
            <a:r>
              <a:rPr lang="en-US" sz="1050" b="1" kern="0" spc="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OVERHEAD</a:t>
            </a:r>
            <a:endParaRPr lang="en-US" sz="105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450" dirty="0">
                <a:solidFill>
                  <a:srgbClr val="1F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to 32 bits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132320" y="1783080"/>
            <a:ext cx="4507992" cy="3749040"/>
          </a:xfrm>
          <a:prstGeom prst="roundRect">
            <a:avLst>
              <a:gd name="adj" fmla="val 2439"/>
            </a:avLst>
          </a:prstGeom>
          <a:solidFill>
            <a:srgbClr val="1F262D"/>
          </a:solidFill>
          <a:ln w="12700">
            <a:solidFill>
              <a:srgbClr val="1F262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 txBox="1"/>
          <p:nvPr/>
        </p:nvSpPr>
        <p:spPr>
          <a:xfrm>
            <a:off x="7406640" y="2011680"/>
            <a:ext cx="777240" cy="256032"/>
          </a:xfrm>
          <a:prstGeom prst="roundRect">
            <a:avLst>
              <a:gd name="adj" fmla="val 21429"/>
            </a:avLst>
          </a:prstGeom>
          <a:solidFill>
            <a:srgbClr val="F5A52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7406640" y="24231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CRC-32 (this project)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7406640" y="2880360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in 4.3 billion</a:t>
            </a:r>
            <a:endParaRPr lang="en-US" sz="3600" dirty="0"/>
          </a:p>
        </p:txBody>
      </p:sp>
      <p:sp>
        <p:nvSpPr>
          <p:cNvPr id="18" name="Text 16"/>
          <p:cNvSpPr txBox="1"/>
          <p:nvPr/>
        </p:nvSpPr>
        <p:spPr>
          <a:xfrm>
            <a:off x="7406640" y="352044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B8C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that a long random error goes unnoticed (1 / 2³²)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406640" y="4005072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B8C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CATCHES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7406640" y="4251960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single-bit error</a:t>
            </a:r>
            <a:endParaRPr lang="en-US" sz="1450" dirty="0"/>
          </a:p>
          <a:p>
            <a:pPr marL="342900" indent="-342900"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burst up to 32 bits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7406640" y="489204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B8C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OVERHEAD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7406640" y="512064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bits per message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57150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Bursts of exactly 33 bits slip through with probability 2⁻³¹, longer ones with 2⁻³². Extra guarantees, such as every double-bit or every odd-count error, depend on the polynomial chosen, and a random divisor does not provide them.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9A5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·  BACKEND API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JSON endpoints drive the whole UI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 Machine Log Integrity Checker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09167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5440680" cy="3840480"/>
          </a:xfrm>
          <a:prstGeom prst="roundRect">
            <a:avLst>
              <a:gd name="adj" fmla="val 2381"/>
            </a:avLst>
          </a:prstGeom>
          <a:solidFill>
            <a:srgbClr val="1F262D"/>
          </a:solidFill>
          <a:ln w="12700">
            <a:solidFill>
              <a:srgbClr val="1F262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 txBox="1"/>
          <p:nvPr/>
        </p:nvSpPr>
        <p:spPr>
          <a:xfrm>
            <a:off x="822960" y="1965960"/>
            <a:ext cx="594360" cy="274320"/>
          </a:xfrm>
          <a:prstGeom prst="roundRect">
            <a:avLst>
              <a:gd name="adj" fmla="val 20000"/>
            </a:avLst>
          </a:prstGeom>
          <a:solidFill>
            <a:srgbClr val="F5A52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194767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/api/compute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468880"/>
            <a:ext cx="50292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request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</a:t>
            </a:r>
            <a:r>
              <a:rPr lang="en-US" sz="1150" dirty="0">
                <a:solidFill>
                  <a:srgbClr val="9CC9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"log":</a:t>
            </a: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50" dirty="0">
                <a:solidFill>
                  <a:srgbClr val="A5D6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"TURBINE_01 RPM:3450"</a:t>
            </a: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}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response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150" dirty="0">
                <a:solidFill>
                  <a:srgbClr val="9CC9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"crc":</a:t>
            </a: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50" dirty="0">
                <a:solidFill>
                  <a:srgbClr val="A5D6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"00110110011110110100011100100100"</a:t>
            </a: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150" dirty="0">
                <a:solidFill>
                  <a:srgbClr val="9CC9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"divisor":</a:t>
            </a: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50" dirty="0">
                <a:solidFill>
                  <a:srgbClr val="A5D6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"100001010100110001101111101000111"</a:t>
            </a: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150" dirty="0">
                <a:solidFill>
                  <a:srgbClr val="9CC9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"steps":</a:t>
            </a: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{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150" dirty="0">
                <a:solidFill>
                  <a:srgbClr val="9CC9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"binary":</a:t>
            </a: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50" dirty="0">
                <a:solidFill>
                  <a:srgbClr val="A5D6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"0101010001010101..."</a:t>
            </a: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150" dirty="0">
                <a:solidFill>
                  <a:srgbClr val="9CC9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"padded":</a:t>
            </a: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50" dirty="0">
                <a:solidFill>
                  <a:srgbClr val="A5D6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"...00000000000000000000000000000000"</a:t>
            </a: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150" dirty="0">
                <a:solidFill>
                  <a:srgbClr val="9CC9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"remainder":</a:t>
            </a: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50" dirty="0">
                <a:solidFill>
                  <a:srgbClr val="A5D6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"00110110011110110100011100100100"</a:t>
            </a: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150" dirty="0">
                <a:solidFill>
                  <a:srgbClr val="9CC9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"hex":</a:t>
            </a: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50" dirty="0">
                <a:solidFill>
                  <a:srgbClr val="A5D6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"367B4724"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99632" y="1737360"/>
            <a:ext cx="5440680" cy="3840480"/>
          </a:xfrm>
          <a:prstGeom prst="roundRect">
            <a:avLst>
              <a:gd name="adj" fmla="val 2381"/>
            </a:avLst>
          </a:prstGeom>
          <a:solidFill>
            <a:srgbClr val="1F262D"/>
          </a:solidFill>
          <a:ln w="12700">
            <a:solidFill>
              <a:srgbClr val="1F262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 txBox="1"/>
          <p:nvPr/>
        </p:nvSpPr>
        <p:spPr>
          <a:xfrm>
            <a:off x="6473952" y="1965960"/>
            <a:ext cx="594360" cy="274320"/>
          </a:xfrm>
          <a:prstGeom prst="roundRect">
            <a:avLst>
              <a:gd name="adj" fmla="val 20000"/>
            </a:avLst>
          </a:prstGeom>
          <a:solidFill>
            <a:srgbClr val="F5A52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7205472" y="194767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/api/verify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73952" y="2468880"/>
            <a:ext cx="50292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request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150" dirty="0">
                <a:solidFill>
                  <a:srgbClr val="9CC9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"log":</a:t>
            </a: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50" dirty="0">
                <a:solidFill>
                  <a:srgbClr val="A5D6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"TURBINE_01 RPM:3450"</a:t>
            </a: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150" dirty="0">
                <a:solidFill>
                  <a:srgbClr val="9CC9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"crc":</a:t>
            </a: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50" dirty="0">
                <a:solidFill>
                  <a:srgbClr val="A5D6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"00110110011110110100011100100100"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response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150" dirty="0">
                <a:solidFill>
                  <a:srgbClr val="9CC9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"accepted":</a:t>
            </a: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50" dirty="0">
                <a:solidFill>
                  <a:srgbClr val="FFB4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150" dirty="0">
                <a:solidFill>
                  <a:srgbClr val="9CC9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"divisor":</a:t>
            </a: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50" dirty="0">
                <a:solidFill>
                  <a:srgbClr val="A5D6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"100001010100110001101111101000111"</a:t>
            </a: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150" dirty="0">
                <a:solidFill>
                  <a:srgbClr val="9CC9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"steps":</a:t>
            </a: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{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150" dirty="0">
                <a:solidFill>
                  <a:srgbClr val="9CC9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"codeword":</a:t>
            </a: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50" dirty="0">
                <a:solidFill>
                  <a:srgbClr val="A5D6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"...00110110011110110100011100100100"</a:t>
            </a: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150" dirty="0">
                <a:solidFill>
                  <a:srgbClr val="9CC9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"remainder":</a:t>
            </a: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50" dirty="0">
                <a:solidFill>
                  <a:srgbClr val="A5D6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"00000000000000000000000000000000"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5760720"/>
            <a:ext cx="11091672" cy="457200"/>
          </a:xfrm>
          <a:prstGeom prst="roundRect">
            <a:avLst>
              <a:gd name="adj" fmla="val 20000"/>
            </a:avLst>
          </a:prstGeom>
          <a:solidFill>
            <a:srgbClr val="F3F5F6"/>
          </a:solidFill>
          <a:ln w="12700">
            <a:solidFill>
              <a:srgbClr val="F3F5F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 txBox="1"/>
          <p:nvPr/>
        </p:nvSpPr>
        <p:spPr>
          <a:xfrm>
            <a:off x="777240" y="57607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26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/api/divisor</a:t>
            </a: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returns the session divisor, so the UI can show it in STEP 4.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9A5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·  FRONTEND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One-screen dashboard: inputs on top, workings below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 Machine Log Integrity Checker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09167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086600" y="1783080"/>
            <a:ext cx="548640" cy="54864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4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4733" y="1931213"/>
            <a:ext cx="252374" cy="252374"/>
          </a:xfrm>
          <a:prstGeom prst="rect">
            <a:avLst/>
          </a:prstGeom>
        </p:spPr>
      </p:pic>
      <p:sp>
        <p:nvSpPr>
          <p:cNvPr id="41" name="Text 38"/>
          <p:cNvSpPr txBox="1"/>
          <p:nvPr/>
        </p:nvSpPr>
        <p:spPr>
          <a:xfrm>
            <a:off x="7863840" y="176479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50" b="1" dirty="0">
                <a:solidFill>
                  <a:srgbClr val="1F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Two-row layout</a:t>
            </a:r>
            <a:endParaRPr lang="en-US" sz="1650" dirty="0"/>
          </a:p>
        </p:txBody>
      </p:sp>
      <p:sp>
        <p:nvSpPr>
          <p:cNvPr id="42" name="Text 39"/>
          <p:cNvSpPr txBox="1"/>
          <p:nvPr/>
        </p:nvSpPr>
        <p:spPr>
          <a:xfrm>
            <a:off x="7863840" y="2112264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 on top, live process steps below. Fits one screen with no page scroll.</a:t>
            </a:r>
            <a:endParaRPr lang="en-US" sz="1350" dirty="0"/>
          </a:p>
        </p:txBody>
      </p:sp>
      <p:sp>
        <p:nvSpPr>
          <p:cNvPr id="43" name="Shape 40"/>
          <p:cNvSpPr/>
          <p:nvPr/>
        </p:nvSpPr>
        <p:spPr>
          <a:xfrm>
            <a:off x="7086600" y="2880360"/>
            <a:ext cx="548640" cy="54864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4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4733" y="3028493"/>
            <a:ext cx="252374" cy="252374"/>
          </a:xfrm>
          <a:prstGeom prst="rect">
            <a:avLst/>
          </a:prstGeom>
        </p:spPr>
      </p:pic>
      <p:sp>
        <p:nvSpPr>
          <p:cNvPr id="45" name="Text 41"/>
          <p:cNvSpPr txBox="1"/>
          <p:nvPr/>
        </p:nvSpPr>
        <p:spPr>
          <a:xfrm>
            <a:off x="7863840" y="286207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50" b="1" dirty="0">
                <a:solidFill>
                  <a:srgbClr val="1F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step visible</a:t>
            </a:r>
            <a:endParaRPr lang="en-US" sz="1650" dirty="0"/>
          </a:p>
        </p:txBody>
      </p:sp>
      <p:sp>
        <p:nvSpPr>
          <p:cNvPr id="46" name="Text 42"/>
          <p:cNvSpPr txBox="1"/>
          <p:nvPr/>
        </p:nvSpPr>
        <p:spPr>
          <a:xfrm>
            <a:off x="7863840" y="3209544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ASCII to binary, padding, divisor, remainder and hex, shown as they happen.</a:t>
            </a:r>
            <a:endParaRPr lang="en-US" sz="1350" dirty="0"/>
          </a:p>
        </p:txBody>
      </p:sp>
      <p:sp>
        <p:nvSpPr>
          <p:cNvPr id="47" name="Shape 43"/>
          <p:cNvSpPr/>
          <p:nvPr/>
        </p:nvSpPr>
        <p:spPr>
          <a:xfrm>
            <a:off x="7086600" y="3977640"/>
            <a:ext cx="548640" cy="54864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4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4733" y="4125773"/>
            <a:ext cx="252374" cy="252374"/>
          </a:xfrm>
          <a:prstGeom prst="rect">
            <a:avLst/>
          </a:prstGeom>
        </p:spPr>
      </p:pic>
      <p:sp>
        <p:nvSpPr>
          <p:cNvPr id="49" name="Text 44"/>
          <p:cNvSpPr txBox="1"/>
          <p:nvPr/>
        </p:nvSpPr>
        <p:spPr>
          <a:xfrm>
            <a:off x="7863840" y="395935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50" b="1" dirty="0">
                <a:solidFill>
                  <a:srgbClr val="1F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and random logs</a:t>
            </a:r>
            <a:endParaRPr lang="en-US" sz="1650" dirty="0"/>
          </a:p>
        </p:txBody>
      </p:sp>
      <p:sp>
        <p:nvSpPr>
          <p:cNvPr id="50" name="Text 45"/>
          <p:cNvSpPr txBox="1"/>
          <p:nvPr/>
        </p:nvSpPr>
        <p:spPr>
          <a:xfrm>
            <a:off x="7863840" y="4306824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.txt, .log or .md with FileReader, or generate a random machine log.</a:t>
            </a:r>
            <a:endParaRPr lang="en-US" sz="1350" dirty="0"/>
          </a:p>
        </p:txBody>
      </p:sp>
      <p:sp>
        <p:nvSpPr>
          <p:cNvPr id="51" name="Shape 46"/>
          <p:cNvSpPr/>
          <p:nvPr/>
        </p:nvSpPr>
        <p:spPr>
          <a:xfrm>
            <a:off x="7086600" y="5074920"/>
            <a:ext cx="548640" cy="54864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5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34733" y="5223053"/>
            <a:ext cx="252374" cy="252374"/>
          </a:xfrm>
          <a:prstGeom prst="rect">
            <a:avLst/>
          </a:prstGeom>
        </p:spPr>
      </p:pic>
      <p:sp>
        <p:nvSpPr>
          <p:cNvPr id="53" name="Text 47"/>
          <p:cNvSpPr txBox="1"/>
          <p:nvPr/>
        </p:nvSpPr>
        <p:spPr>
          <a:xfrm>
            <a:off x="7863840" y="505663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50" b="1" dirty="0">
                <a:solidFill>
                  <a:srgbClr val="1F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and dark theme</a:t>
            </a:r>
            <a:endParaRPr lang="en-US" sz="1650" dirty="0"/>
          </a:p>
        </p:txBody>
      </p:sp>
      <p:sp>
        <p:nvSpPr>
          <p:cNvPr id="54" name="Text 48"/>
          <p:cNvSpPr txBox="1"/>
          <p:nvPr/>
        </p:nvSpPr>
        <p:spPr>
          <a:xfrm>
            <a:off x="7863840" y="5404104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variables and one toggle; the choice is saved in localStorage.</a:t>
            </a:r>
            <a:endParaRPr lang="en-US" sz="1350" dirty="0"/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C6A4CC4C-99C1-2156-6972-0723133897A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1964" y="1931213"/>
            <a:ext cx="6626503" cy="365376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9A5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·  RESULTS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Tested: intact, mutated, and forged-checksum logs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 Machine Log Integrity Checker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09167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3566160" cy="3840480"/>
          </a:xfrm>
          <a:prstGeom prst="roundRect">
            <a:avLst>
              <a:gd name="adj" fmla="val 2564"/>
            </a:avLst>
          </a:prstGeom>
          <a:solidFill>
            <a:srgbClr val="E7F6EC"/>
          </a:solidFill>
          <a:ln w="12700">
            <a:solidFill>
              <a:srgbClr val="A7D7B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 txBox="1"/>
          <p:nvPr/>
        </p:nvSpPr>
        <p:spPr>
          <a:xfrm>
            <a:off x="777240" y="196596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21284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1F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 log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606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changed in transit.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15468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RECEIVED LOG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374136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F26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TURBINE_01 RPM:3450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77647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CRC RECEIVED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3995928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F26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00110110 01111011 01000111 00100100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398264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REMAINDER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461772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F26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00000000 00000000 00000000 00000000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029200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15803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ACCEPT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311396" y="1783080"/>
            <a:ext cx="3566160" cy="3840480"/>
          </a:xfrm>
          <a:prstGeom prst="roundRect">
            <a:avLst>
              <a:gd name="adj" fmla="val 2564"/>
            </a:avLst>
          </a:prstGeom>
          <a:solidFill>
            <a:srgbClr val="FDECEA"/>
          </a:solidFill>
          <a:ln w="12700">
            <a:solidFill>
              <a:srgbClr val="F1B5A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 txBox="1"/>
          <p:nvPr/>
        </p:nvSpPr>
        <p:spPr>
          <a:xfrm>
            <a:off x="4539996" y="196596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539996" y="221284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1F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One-bit mutation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4539996" y="2606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character flipped: '0' → '1' (a single bit).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4539996" y="315468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RECEIVED LOG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4539996" y="3374136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F26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TURBINE_01 RPM:345</a:t>
            </a:r>
            <a:r>
              <a:rPr lang="en-US" sz="1100" b="1" dirty="0">
                <a:solidFill>
                  <a:srgbClr val="B42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4539996" y="377647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CRC RECEIVED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4539996" y="3995928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F26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00110110 01111011 01000111 00100100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39996" y="4398264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REMAINDER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4539996" y="461772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F26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00001010 10011000 11011111 01000111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4539996" y="5029200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B42318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REJECT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8074152" y="1783080"/>
            <a:ext cx="3566160" cy="3840480"/>
          </a:xfrm>
          <a:prstGeom prst="roundRect">
            <a:avLst>
              <a:gd name="adj" fmla="val 2564"/>
            </a:avLst>
          </a:prstGeom>
          <a:solidFill>
            <a:srgbClr val="FDECEA"/>
          </a:solidFill>
          <a:ln w="12700">
            <a:solidFill>
              <a:srgbClr val="F1B5A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 txBox="1"/>
          <p:nvPr/>
        </p:nvSpPr>
        <p:spPr>
          <a:xfrm>
            <a:off x="8302752" y="196596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8302752" y="221284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1F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Tampered checksum</a:t>
            </a:r>
            <a:endParaRPr lang="en-US" sz="2000" dirty="0"/>
          </a:p>
        </p:txBody>
      </p:sp>
      <p:sp>
        <p:nvSpPr>
          <p:cNvPr id="31" name="Text 29"/>
          <p:cNvSpPr txBox="1"/>
          <p:nvPr/>
        </p:nvSpPr>
        <p:spPr>
          <a:xfrm>
            <a:off x="8302752" y="2606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log is intact; 8 bits of the CRC were flipped.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8302752" y="315468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RECEIVED LOG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8302752" y="3374136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F26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TURBINE_01 RPM:3450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8302752" y="377647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CRC RECEIVED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8302752" y="3995928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B42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11001001</a:t>
            </a:r>
            <a:r>
              <a:rPr lang="en-US" sz="1100" dirty="0">
                <a:solidFill>
                  <a:srgbClr val="1F26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01111011 01000111 00100100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8302752" y="4398264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REMAINDER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8302752" y="461772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F26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11111111 00000000 00000000 00000000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8302752" y="5029200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B42318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REJECT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548640" y="58064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Values produced with the same ascii2binary and xordiv code, using the example divisor from slide 5.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1897</Words>
  <Application>Microsoft Office PowerPoint</Application>
  <PresentationFormat>Widescreen</PresentationFormat>
  <Paragraphs>329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Industrial Machine Log Integrity Checker</dc:title>
  <dc:subject>PptxGenJS Presentation</dc:subject>
  <dc:creator>PptxGenJS</dc:creator>
  <cp:lastModifiedBy>MayDie Later</cp:lastModifiedBy>
  <cp:revision>7</cp:revision>
  <dcterms:created xsi:type="dcterms:W3CDTF">2026-09-21T04:18:19Z</dcterms:created>
  <dcterms:modified xsi:type="dcterms:W3CDTF">2026-09-21T04:36:48Z</dcterms:modified>
</cp:coreProperties>
</file>